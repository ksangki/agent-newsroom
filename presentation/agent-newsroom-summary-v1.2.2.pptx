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3123dc0a27c8fbcbcbc86e67ac5e950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1123798"/>
            <a:ext cx="914400" cy="19202"/>
          </a:xfrm>
          <a:prstGeom prst="rect">
            <a:avLst/>
          </a:prstGeom>
        </p:spPr>
      </p:pic>
      <p:pic>
        <p:nvPicPr>
          <p:cNvPr id="3" name="Image 1" descr="gen-dedup-ca465a0cabce86c1a459799d145259d5.png">    </p:cNvPr>
          <p:cNvPicPr>
            <a:picLocks noChangeAspect="1"/>
          </p:cNvPicPr>
          <p:nvPr/>
        </p:nvPicPr>
        <p:blipFill>
          <a:blip r:embed="rId2"/>
          <a:srcRect l="-404" r="-404" t="0" b="0"/>
          <a:stretch/>
        </p:blipFill>
        <p:spPr>
          <a:xfrm>
            <a:off x="1143000" y="6476695"/>
            <a:ext cx="685800" cy="28346"/>
          </a:xfrm>
          <a:prstGeom prst="rect">
            <a:avLst/>
          </a:prstGeom>
        </p:spPr>
      </p:pic>
      <p:pic>
        <p:nvPicPr>
          <p:cNvPr id="4" name="Image 2" descr="gen-dedup-b8e66746e7db206495a59da6e29711b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907" y="914400"/>
            <a:ext cx="5581498" cy="83823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43000" y="1314907"/>
            <a:ext cx="5715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b="1" i="1" spc="150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FIELD NOTES — OCTOBER 2026</a:t>
            </a:r>
            <a:endParaRPr lang="ko-KR" sz="1650" dirty="0" altLang="en-US"/>
          </a:p>
        </p:txBody>
      </p:sp>
      <p:sp>
        <p:nvSpPr>
          <p:cNvPr id="6" name="Text 1"/>
          <p:cNvSpPr txBox="1"/>
          <p:nvPr/>
        </p:nvSpPr>
        <p:spPr>
          <a:xfrm>
            <a:off x="1143000" y="16952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A8A2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v1.2.2 · 2026-10-23 · CC BY-NC-SA 4.0</a:t>
            </a:r>
            <a:endParaRPr lang="ko-KR" sz="1350" dirty="0" altLang="en-US"/>
          </a:p>
        </p:txBody>
      </p:sp>
      <p:sp>
        <p:nvSpPr>
          <p:cNvPr id="7" name="Text 2"/>
          <p:cNvSpPr txBox="1"/>
          <p:nvPr/>
        </p:nvSpPr>
        <p:spPr>
          <a:xfrm>
            <a:off x="1143000" y="2857500"/>
            <a:ext cx="933511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ko-KR" sz="12900" b="1" spc="-150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</a:t>
            </a:r>
            <a:pPr algn="l" indent="0" marL="0">
              <a:lnSpc>
                <a:spcPct val="98000"/>
              </a:lnSpc>
              <a:buNone/>
            </a:pPr>
            <a:endParaRPr lang="ko-KR" sz="12900" dirty="0" altLang="en-US"/>
          </a:p>
          <a:p>
            <a:pPr algn="l" indent="0" marL="0">
              <a:lnSpc>
                <a:spcPct val="98000"/>
              </a:lnSpc>
              <a:buNone/>
            </a:pPr>
            <a:r>
              <a:rPr lang="ko-KR" sz="12900" b="1" spc="-150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편집국</a:t>
            </a:r>
            <a:endParaRPr lang="ko-KR" sz="12900" dirty="0" altLang="en-US"/>
          </a:p>
        </p:txBody>
      </p:sp>
      <p:sp>
        <p:nvSpPr>
          <p:cNvPr id="8" name="Text 3"/>
          <p:cNvSpPr txBox="1"/>
          <p:nvPr/>
        </p:nvSpPr>
        <p:spPr>
          <a:xfrm>
            <a:off x="1143000" y="6736385"/>
            <a:ext cx="933511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ko-KR" sz="3150" dirty="0" altLang="en-US">
                <a:solidFill>
                  <a:srgbClr val="D8D3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글을 맡긴 뒤,</a:t>
            </a:r>
            <a:pPr algn="l" indent="0" marL="0">
              <a:lnSpc>
                <a:spcPts val="4500"/>
              </a:lnSpc>
              <a:buNone/>
            </a:pPr>
            <a:endParaRPr lang="ko-KR" sz="3150" dirty="0" altLang="en-US"/>
          </a:p>
          <a:p>
            <a:pPr algn="l" indent="0" marL="0">
              <a:lnSpc>
                <a:spcPts val="4500"/>
              </a:lnSpc>
              <a:buNone/>
            </a:pPr>
            <a:r>
              <a:rPr lang="ko-KR" sz="3150" dirty="0" altLang="en-US">
                <a:solidFill>
                  <a:srgbClr val="D8D3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무엇을 책임지는가</a:t>
            </a:r>
            <a:endParaRPr lang="ko-KR" sz="3150" dirty="0" altLang="en-US"/>
          </a:p>
        </p:txBody>
      </p:sp>
      <p:sp>
        <p:nvSpPr>
          <p:cNvPr id="9" name="Text 4"/>
          <p:cNvSpPr txBox="1"/>
          <p:nvPr/>
        </p:nvSpPr>
        <p:spPr>
          <a:xfrm>
            <a:off x="1143000" y="8382305"/>
            <a:ext cx="9335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spc="38" kern="0" dirty="0" altLang="en-US">
                <a:solidFill>
                  <a:srgbClr val="8A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지은이 · 김상기 · 웹 https://ksangki.github.io/agent-newsroom/</a:t>
            </a:r>
            <a:endParaRPr lang="ko-KR" sz="1650" dirty="0" altLang="en-US"/>
          </a:p>
        </p:txBody>
      </p:sp>
      <p:sp>
        <p:nvSpPr>
          <p:cNvPr id="10" name="Text 5"/>
          <p:cNvSpPr txBox="1"/>
          <p:nvPr/>
        </p:nvSpPr>
        <p:spPr>
          <a:xfrm>
            <a:off x="1143000" y="9620402"/>
            <a:ext cx="1905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01 / 15</a:t>
            </a:r>
            <a:endParaRPr lang="ko-KR" sz="1350" dirty="0" altLang="en-US"/>
          </a:p>
        </p:txBody>
      </p:sp>
      <p:sp>
        <p:nvSpPr>
          <p:cNvPr id="11" name="Text 6"/>
          <p:cNvSpPr txBox="1"/>
          <p:nvPr/>
        </p:nvSpPr>
        <p:spPr>
          <a:xfrm>
            <a:off x="11601907" y="9486900"/>
            <a:ext cx="55824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sz="120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저자 전문 검토 전 초안 · 삽화는 상상으로 그린 장면</a:t>
            </a:r>
            <a:endParaRPr lang="ko-KR" sz="1200" dirty="0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619195"/>
            <a:ext cx="7239305" cy="3638398"/>
          </a:xfrm>
          <a:prstGeom prst="rect">
            <a:avLst/>
          </a:prstGeom>
          <a:solidFill>
            <a:srgbClr val="ECDFC5"/>
          </a:solidFill>
          <a:ln/>
        </p:spPr>
      </p:sp>
      <p:sp>
        <p:nvSpPr>
          <p:cNvPr id="4" name="Shape 1"/>
          <p:cNvSpPr/>
          <p:nvPr/>
        </p:nvSpPr>
        <p:spPr>
          <a:xfrm>
            <a:off x="1143000" y="3619195"/>
            <a:ext cx="7239305" cy="19202"/>
          </a:xfrm>
          <a:prstGeom prst="rect">
            <a:avLst/>
          </a:prstGeom>
          <a:solidFill>
            <a:srgbClr val="C97C3D"/>
          </a:solidFill>
          <a:ln w="12700">
            <a:solidFill>
              <a:srgbClr val="C97C3D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05695" y="3619195"/>
            <a:ext cx="7239305" cy="3638398"/>
          </a:xfrm>
          <a:prstGeom prst="rect">
            <a:avLst/>
          </a:prstGeom>
          <a:solidFill>
            <a:srgbClr val="ECDFC5"/>
          </a:solidFill>
          <a:ln/>
        </p:spPr>
      </p:sp>
      <p:sp>
        <p:nvSpPr>
          <p:cNvPr id="6" name="Shape 3"/>
          <p:cNvSpPr/>
          <p:nvPr/>
        </p:nvSpPr>
        <p:spPr>
          <a:xfrm>
            <a:off x="9905695" y="3619195"/>
            <a:ext cx="7239305" cy="19202"/>
          </a:xfrm>
          <a:prstGeom prst="rect">
            <a:avLst/>
          </a:prstGeom>
          <a:solidFill>
            <a:srgbClr val="1A1D2A"/>
          </a:solidFill>
          <a:ln w="12700">
            <a:solidFill>
              <a:srgbClr val="1A1D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1028700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검색 위의 변화</a:t>
            </a:r>
            <a:endParaRPr lang="ko-KR" sz="1350" dirty="0" altLang="en-US"/>
          </a:p>
        </p:txBody>
      </p:sp>
      <p:sp>
        <p:nvSpPr>
          <p:cNvPr id="8" name="Text 5"/>
          <p:cNvSpPr txBox="1"/>
          <p:nvPr/>
        </p:nvSpPr>
        <p:spPr>
          <a:xfrm>
            <a:off x="1143000" y="1410005"/>
            <a:ext cx="16002000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ko-KR" sz="54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요약이 검색 위에 뜨자,</a:t>
            </a:r>
            <a:pPr algn="l" indent="0" marL="0">
              <a:lnSpc>
                <a:spcPct val="122000"/>
              </a:lnSpc>
              <a:buNone/>
            </a:pPr>
            <a:endParaRPr lang="ko-KR" sz="5400" dirty="0" altLang="en-US"/>
          </a:p>
          <a:p>
            <a:pPr algn="l" indent="0" marL="0">
              <a:lnSpc>
                <a:spcPct val="122000"/>
              </a:lnSpc>
              <a:buNone/>
            </a:pPr>
            <a:r>
              <a:rPr lang="ko-KR" sz="54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클릭은 덜 관찰됐다.</a:t>
            </a:r>
            <a:endParaRPr lang="ko-KR" sz="5400" dirty="0" altLang="en-US"/>
          </a:p>
        </p:txBody>
      </p:sp>
      <p:sp>
        <p:nvSpPr>
          <p:cNvPr id="9" name="Text 6"/>
          <p:cNvSpPr txBox="1"/>
          <p:nvPr/>
        </p:nvSpPr>
        <p:spPr>
          <a:xfrm>
            <a:off x="1524305" y="3924605"/>
            <a:ext cx="6477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i="1" spc="7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AI 요약이 뜬 방문</a:t>
            </a:r>
            <a:endParaRPr lang="ko-KR" sz="1500" dirty="0" altLang="en-US"/>
          </a:p>
        </p:txBody>
      </p:sp>
      <p:sp>
        <p:nvSpPr>
          <p:cNvPr id="10" name="Text 7"/>
          <p:cNvSpPr txBox="1"/>
          <p:nvPr/>
        </p:nvSpPr>
        <p:spPr>
          <a:xfrm>
            <a:off x="1524305" y="4286707"/>
            <a:ext cx="6477610" cy="1733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1700" b="1" spc="-3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pPr algn="l" indent="0" marL="0">
              <a:buNone/>
            </a:pPr>
            <a:r>
              <a:rPr lang="ko-KR" sz="7200" b="1" spc="-3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ko-KR" sz="11700" dirty="0" altLang="en-US"/>
          </a:p>
        </p:txBody>
      </p:sp>
      <p:sp>
        <p:nvSpPr>
          <p:cNvPr id="11" name="Text 8"/>
          <p:cNvSpPr txBox="1"/>
          <p:nvPr/>
        </p:nvSpPr>
        <p:spPr>
          <a:xfrm>
            <a:off x="1524305" y="6476695"/>
            <a:ext cx="6477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검색 결과 링크 클릭이 관찰된 방문의 비율</a:t>
            </a:r>
            <a:endParaRPr lang="ko-KR" sz="1650" dirty="0" altLang="en-US"/>
          </a:p>
        </p:txBody>
      </p:sp>
      <p:sp>
        <p:nvSpPr>
          <p:cNvPr id="12" name="Text 9"/>
          <p:cNvSpPr txBox="1"/>
          <p:nvPr/>
        </p:nvSpPr>
        <p:spPr>
          <a:xfrm>
            <a:off x="10287000" y="3924605"/>
            <a:ext cx="6477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i="1" spc="75" kern="0" dirty="0" altLang="en-US">
                <a:solidFill>
                  <a:srgbClr val="1A1D2A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AI 요약이 없는 방문</a:t>
            </a:r>
            <a:endParaRPr lang="ko-KR" sz="1500" dirty="0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87000" y="4286707"/>
            <a:ext cx="6477610" cy="1733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1700" b="1" spc="-3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pPr algn="l" indent="0" marL="0">
              <a:buNone/>
            </a:pPr>
            <a:r>
              <a:rPr lang="ko-KR" sz="7200" b="1" spc="-3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ko-KR" sz="11700" dirty="0" altLang="en-US"/>
          </a:p>
        </p:txBody>
      </p:sp>
      <p:sp>
        <p:nvSpPr>
          <p:cNvPr id="14" name="Text 11"/>
          <p:cNvSpPr txBox="1"/>
          <p:nvPr/>
        </p:nvSpPr>
        <p:spPr>
          <a:xfrm>
            <a:off x="10287000" y="6476695"/>
            <a:ext cx="6477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비율 · AI 요약이 없는 이쪽이 기준선이다</a:t>
            </a:r>
            <a:endParaRPr lang="ko-KR" sz="1650" dirty="0" altLang="en-US"/>
          </a:p>
        </p:txBody>
      </p:sp>
      <p:sp>
        <p:nvSpPr>
          <p:cNvPr id="15" name="Text 12"/>
          <p:cNvSpPr txBox="1"/>
          <p:nvPr/>
        </p:nvSpPr>
        <p:spPr>
          <a:xfrm>
            <a:off x="1143000" y="7862011"/>
            <a:ext cx="1600200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안의 출처 링크 클릭은 방문의 </a:t>
            </a:r>
            <a:pPr algn="l" indent="0" marL="0">
              <a:lnSpc>
                <a:spcPts val="2850"/>
              </a:lnSpc>
              <a:buNone/>
            </a:pPr>
            <a:r>
              <a:rPr lang="ko-KR" sz="1800" b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1%</a:t>
            </a:r>
            <a:pPr algn="l" indent="0" marL="0">
              <a:lnSpc>
                <a:spcPts val="2850"/>
              </a:lnSpc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였다.</a:t>
            </a:r>
            <a:pPr algn="l" indent="0" marL="0">
              <a:lnSpc>
                <a:spcPts val="2850"/>
              </a:lnSpc>
              <a:buNone/>
            </a:pPr>
            <a:endParaRPr lang="ko-KR" sz="1800" dirty="0" altLang="en-US"/>
          </a:p>
          <a:p>
            <a:pPr algn="l" indent="0" marL="0">
              <a:lnSpc>
                <a:spcPts val="2850"/>
              </a:lnSpc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조사는 </a:t>
            </a:r>
            <a:pPr algn="l" indent="0" marL="0">
              <a:lnSpc>
                <a:spcPts val="2850"/>
              </a:lnSpc>
              <a:buNone/>
            </a:pPr>
            <a:r>
              <a:rPr lang="ko-KR" sz="1800" i="1" dirty="0" altLang="en-US">
                <a:solidFill>
                  <a:srgbClr val="3D4151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관찰 자료</a:t>
            </a:r>
            <a:pPr algn="l" indent="0" marL="0">
              <a:lnSpc>
                <a:spcPts val="2850"/>
              </a:lnSpc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— 인과 효과로 읽으면 안 된다.</a:t>
            </a:r>
            <a:endParaRPr lang="ko-KR" sz="1800" dirty="0" altLang="en-US"/>
          </a:p>
        </p:txBody>
      </p:sp>
      <p:sp>
        <p:nvSpPr>
          <p:cNvPr id="16" name="Text 13"/>
          <p:cNvSpPr txBox="1"/>
          <p:nvPr/>
        </p:nvSpPr>
        <p:spPr>
          <a:xfrm>
            <a:off x="1143000" y="9334195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Pew Research Center, 2025-07-22 발행 / 2025-03 미국 성인 900명 / 고유 검색 68,879건 중 12,593건에 AI 요약 / 브라우징 기록</a:t>
            </a:r>
            <a:endParaRPr lang="ko-KR" sz="1350" dirty="0" altLang="en-US"/>
          </a:p>
        </p:txBody>
      </p:sp>
      <p:sp>
        <p:nvSpPr>
          <p:cNvPr id="17" name="Text 14"/>
          <p:cNvSpPr txBox="1"/>
          <p:nvPr/>
        </p:nvSpPr>
        <p:spPr>
          <a:xfrm>
            <a:off x="15430500" y="9905695"/>
            <a:ext cx="1905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02 / 15</a:t>
            </a:r>
            <a:endParaRPr lang="ko-KR" sz="1350" dirty="0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d66b4aea41a735f46cd5e7673a05144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191695" y="7239305"/>
            <a:ext cx="4953305" cy="190469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143000" y="1028700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관통 질문 · THE QUESTION THAT CARRIES THE BOOK</a:t>
            </a:r>
            <a:endParaRPr lang="ko-KR" sz="1350" dirty="0" altLang="en-US"/>
          </a:p>
        </p:txBody>
      </p:sp>
      <p:sp>
        <p:nvSpPr>
          <p:cNvPr id="5" name="Text 2"/>
          <p:cNvSpPr txBox="1"/>
          <p:nvPr/>
        </p:nvSpPr>
        <p:spPr>
          <a:xfrm>
            <a:off x="1143000" y="2047875"/>
            <a:ext cx="142875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sz="7800" b="1" spc="-150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만드는 비용이</a:t>
            </a:r>
            <a:pPr algn="l" indent="0" marL="0">
              <a:lnSpc>
                <a:spcPct val="105000"/>
              </a:lnSpc>
              <a:buNone/>
            </a:pPr>
            <a:endParaRPr lang="ko-KR" sz="7800" dirty="0" altLang="en-US"/>
          </a:p>
          <a:p>
            <a:pPr algn="l" indent="0" marL="0">
              <a:lnSpc>
                <a:spcPct val="105000"/>
              </a:lnSpc>
              <a:buNone/>
            </a:pPr>
            <a:r>
              <a:rPr lang="ko-KR" sz="7800" b="1" spc="-150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 가까워지면,</a:t>
            </a:r>
            <a:pPr algn="l" indent="0" marL="0">
              <a:lnSpc>
                <a:spcPct val="105000"/>
              </a:lnSpc>
              <a:buNone/>
            </a:pPr>
            <a:endParaRPr lang="ko-KR" sz="7800" dirty="0" altLang="en-US"/>
          </a:p>
          <a:p>
            <a:pPr algn="l" indent="0" marL="0">
              <a:lnSpc>
                <a:spcPct val="105000"/>
              </a:lnSpc>
              <a:buNone/>
            </a:pPr>
            <a:r>
              <a:rPr lang="ko-KR" sz="7800" b="1" spc="-150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블로그의 가치는</a:t>
            </a:r>
            <a:pPr algn="l" indent="0" marL="0">
              <a:lnSpc>
                <a:spcPct val="105000"/>
              </a:lnSpc>
              <a:buNone/>
            </a:pPr>
            <a:endParaRPr lang="ko-KR" sz="7800" dirty="0" altLang="en-US"/>
          </a:p>
          <a:p>
            <a:pPr algn="l" indent="0" marL="0">
              <a:lnSpc>
                <a:spcPct val="105000"/>
              </a:lnSpc>
              <a:buNone/>
            </a:pPr>
            <a:r>
              <a:rPr lang="ko-KR" sz="7800" b="1" i="1" spc="-150" kern="0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옮겨 가는가.</a:t>
            </a:r>
            <a:endParaRPr lang="ko-KR" sz="7800" dirty="0" altLang="en-US"/>
          </a:p>
        </p:txBody>
      </p:sp>
      <p:sp>
        <p:nvSpPr>
          <p:cNvPr id="6" name="Text 3"/>
          <p:cNvSpPr txBox="1"/>
          <p:nvPr/>
        </p:nvSpPr>
        <p:spPr>
          <a:xfrm>
            <a:off x="12573000" y="7443216"/>
            <a:ext cx="4381805" cy="147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ko-KR" sz="2550" b="1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싸진 것은 초안이다.</a:t>
            </a:r>
            <a:pPr algn="l" indent="0" marL="0">
              <a:lnSpc>
                <a:spcPts val="3750"/>
              </a:lnSpc>
              <a:buNone/>
            </a:pPr>
            <a:endParaRPr lang="ko-KR" sz="2550" dirty="0" altLang="en-US"/>
          </a:p>
          <a:p>
            <a:pPr algn="l" indent="0" marL="0">
              <a:lnSpc>
                <a:spcPts val="3750"/>
              </a:lnSpc>
              <a:buNone/>
            </a:pPr>
            <a:r>
              <a:rPr lang="ko-KR" sz="2550" b="1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확인·수정·책임은</a:t>
            </a:r>
            <a:pPr algn="l" indent="0" marL="0">
              <a:lnSpc>
                <a:spcPts val="3750"/>
              </a:lnSpc>
              <a:buNone/>
            </a:pPr>
            <a:endParaRPr lang="ko-KR" sz="2550" dirty="0" altLang="en-US"/>
          </a:p>
          <a:p>
            <a:pPr algn="l" indent="0" marL="0">
              <a:lnSpc>
                <a:spcPts val="3750"/>
              </a:lnSpc>
              <a:buNone/>
            </a:pPr>
            <a:r>
              <a:rPr lang="ko-KR" sz="2550" b="1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여전히 사람의 시간이다.</a:t>
            </a:r>
            <a:endParaRPr lang="ko-KR" sz="2550" dirty="0" altLang="en-US"/>
          </a:p>
        </p:txBody>
      </p:sp>
      <p:sp>
        <p:nvSpPr>
          <p:cNvPr id="7" name="Text 4"/>
          <p:cNvSpPr txBox="1"/>
          <p:nvPr/>
        </p:nvSpPr>
        <p:spPr>
          <a:xfrm>
            <a:off x="1143000" y="8001000"/>
            <a:ext cx="10478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800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부제 — "AI에게 글을 맡긴 뒤, 사람은 무엇을 책임지는가"는 그 남은 일을 가리킨다.</a:t>
            </a:r>
            <a:endParaRPr lang="ko-KR" sz="1800" dirty="0" altLang="en-US"/>
          </a:p>
        </p:txBody>
      </p:sp>
      <p:sp>
        <p:nvSpPr>
          <p:cNvPr id="8" name="Text 5"/>
          <p:cNvSpPr txBox="1"/>
          <p:nvPr/>
        </p:nvSpPr>
        <p:spPr>
          <a:xfrm>
            <a:off x="1143000" y="9620402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03 / 15</a:t>
            </a:r>
            <a:endParaRPr lang="ko-KR" sz="1350" dirty="0" altLang="en-US"/>
          </a:p>
        </p:txBody>
      </p:sp>
      <p:sp>
        <p:nvSpPr>
          <p:cNvPr id="9" name="Text 6"/>
          <p:cNvSpPr txBox="1"/>
          <p:nvPr/>
        </p:nvSpPr>
        <p:spPr>
          <a:xfrm>
            <a:off x="12573000" y="96204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sz="120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서문 · 「에이전트 편집국」</a:t>
            </a:r>
            <a:endParaRPr lang="ko-KR" sz="1200" dirty="0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pic>
        <p:nvPicPr>
          <p:cNvPr id="3" name="Image 1" descr="gen-dedup-ed1ad94f29da3c35d68d491ab77823c4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895198" y="6476695"/>
            <a:ext cx="57607" cy="914400"/>
          </a:xfrm>
          <a:prstGeom prst="rect">
            <a:avLst/>
          </a:prstGeom>
        </p:spPr>
      </p:pic>
      <p:pic>
        <p:nvPicPr>
          <p:cNvPr id="4" name="Image 2" descr="gen-dedup-9861da3f83d3a541e25079312923ffa6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10477195" y="1410005"/>
            <a:ext cx="9144" cy="7429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1048695" y="2857500"/>
            <a:ext cx="6096305" cy="1923898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6" name="Shape 1"/>
          <p:cNvSpPr/>
          <p:nvPr/>
        </p:nvSpPr>
        <p:spPr>
          <a:xfrm>
            <a:off x="11048695" y="2857500"/>
            <a:ext cx="6096305" cy="19202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11048695" y="4914900"/>
            <a:ext cx="6096305" cy="1923898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8" name="Shape 3"/>
          <p:cNvSpPr/>
          <p:nvPr/>
        </p:nvSpPr>
        <p:spPr>
          <a:xfrm>
            <a:off x="11048695" y="4914900"/>
            <a:ext cx="6096305" cy="19202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048695" y="6972300"/>
            <a:ext cx="6096305" cy="1923898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10" name="Shape 5"/>
          <p:cNvSpPr/>
          <p:nvPr/>
        </p:nvSpPr>
        <p:spPr>
          <a:xfrm>
            <a:off x="11048695" y="6972300"/>
            <a:ext cx="6096305" cy="19202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04 / 15</a:t>
            </a:r>
            <a:endParaRPr lang="ko-KR" sz="1350" dirty="0" altLang="en-US"/>
          </a:p>
        </p:txBody>
      </p:sp>
      <p:sp>
        <p:nvSpPr>
          <p:cNvPr id="12" name="Text 7"/>
          <p:cNvSpPr txBox="1"/>
          <p:nvPr/>
        </p:nvSpPr>
        <p:spPr>
          <a:xfrm>
            <a:off x="1143000" y="1238098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사례 · 한 편집국을 끝까지 본 다음에</a:t>
            </a:r>
            <a:endParaRPr lang="ko-KR" sz="1350" dirty="0" altLang="en-US"/>
          </a:p>
        </p:txBody>
      </p:sp>
      <p:sp>
        <p:nvSpPr>
          <p:cNvPr id="13" name="Text 8"/>
          <p:cNvSpPr txBox="1"/>
          <p:nvPr/>
        </p:nvSpPr>
        <p:spPr>
          <a:xfrm>
            <a:off x="1143000" y="1600200"/>
            <a:ext cx="11049610" cy="1133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600" b="1" spc="-150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DEVOTEE</a:t>
            </a:r>
            <a:pPr algn="l" indent="0" marL="0">
              <a:buNone/>
            </a:pPr>
            <a:r>
              <a:rPr lang="ko-KR" sz="2700" b="1" spc="-150" kern="0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 xml:space="preserve"> — 사람 없이 도는 한 에이전트</a:t>
            </a:r>
            <a:endParaRPr lang="ko-KR" sz="6600" dirty="0" altLang="en-US"/>
          </a:p>
        </p:txBody>
      </p:sp>
      <p:sp>
        <p:nvSpPr>
          <p:cNvPr id="14" name="Text 9"/>
          <p:cNvSpPr txBox="1"/>
          <p:nvPr/>
        </p:nvSpPr>
        <p:spPr>
          <a:xfrm>
            <a:off x="1066800" y="3158338"/>
            <a:ext cx="8839810" cy="236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DEVOCEAN에서 저자가 만들어 운영하는 AI 에이전트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endParaRPr lang="ko-KR" sz="1950" dirty="0" altLang="en-US"/>
          </a:p>
          <a:p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2026-09-28 ~ 10-07 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b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기술 해설 1편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발행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endParaRPr lang="ko-KR" sz="1950" dirty="0" altLang="en-US"/>
          </a:p>
          <a:p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07:40, 실제 실행 09:20 ~ 10:20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endParaRPr lang="ko-KR" sz="1950" dirty="0" altLang="en-US"/>
          </a:p>
          <a:p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전 사람 승인 단계가 없음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endParaRPr lang="ko-KR" sz="1950" dirty="0" altLang="en-US"/>
          </a:p>
          <a:p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304800" indent="-304800">
              <a:lnSpc>
                <a:spcPts val="3600"/>
              </a:lnSpc>
              <a:buSzPct val="100000"/>
              <a:buChar char="•"/>
            </a:pPr>
            <a:r>
              <a:rPr lang="ko-KR" sz="19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글의 작성자 이름이 DEVOTEE, #DEVOTEE 태그</a:t>
            </a:r>
            <a:endParaRPr lang="ko-KR" sz="1950" dirty="0" altLang="en-US"/>
          </a:p>
        </p:txBody>
      </p:sp>
      <p:sp>
        <p:nvSpPr>
          <p:cNvPr id="15" name="Text 10"/>
          <p:cNvSpPr txBox="1"/>
          <p:nvPr/>
        </p:nvSpPr>
        <p:spPr>
          <a:xfrm>
            <a:off x="1143000" y="6444691"/>
            <a:ext cx="8763610" cy="1118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ko-KR" sz="19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책은 DEVOTEE의 운영 방식과</a:t>
            </a:r>
            <a:pPr algn="l" indent="0" marL="0">
              <a:lnSpc>
                <a:spcPts val="2850"/>
              </a:lnSpc>
              <a:buNone/>
            </a:pPr>
            <a:endParaRPr lang="ko-KR" sz="1950" dirty="0" altLang="en-US"/>
          </a:p>
          <a:p>
            <a:pPr algn="l" indent="0" marL="0">
              <a:lnSpc>
                <a:spcPts val="2850"/>
              </a:lnSpc>
              <a:buNone/>
            </a:pPr>
            <a:r>
              <a:rPr lang="ko-KR" sz="19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한계를 살펴보며 같은 문제를 다룬다.</a:t>
            </a:r>
            <a:pPr algn="l" indent="0" marL="0">
              <a:lnSpc>
                <a:spcPts val="2850"/>
              </a:lnSpc>
              <a:buNone/>
            </a:pPr>
            <a:endParaRPr lang="ko-KR" sz="1950" dirty="0" altLang="en-US"/>
          </a:p>
          <a:p>
            <a:pPr algn="l" indent="0" marL="0">
              <a:lnSpc>
                <a:spcPts val="2850"/>
              </a:lnSpc>
              <a:buNone/>
            </a:pPr>
            <a:r>
              <a:rPr lang="ko-KR" sz="19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사례일 뿐, 효과를 입증한 사례는 아니다.</a:t>
            </a:r>
            <a:endParaRPr lang="ko-KR" sz="1950" dirty="0" altLang="en-US"/>
          </a:p>
        </p:txBody>
      </p:sp>
      <p:sp>
        <p:nvSpPr>
          <p:cNvPr id="16" name="Text 11"/>
          <p:cNvSpPr txBox="1"/>
          <p:nvPr/>
        </p:nvSpPr>
        <p:spPr>
          <a:xfrm>
            <a:off x="11048695" y="1600200"/>
            <a:ext cx="6096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구성 · 3부 11장</a:t>
            </a:r>
            <a:endParaRPr lang="ko-KR" sz="1350" dirty="0" altLang="en-US"/>
          </a:p>
        </p:txBody>
      </p:sp>
      <p:sp>
        <p:nvSpPr>
          <p:cNvPr id="17" name="Text 12"/>
          <p:cNvSpPr txBox="1"/>
          <p:nvPr/>
        </p:nvSpPr>
        <p:spPr>
          <a:xfrm>
            <a:off x="11048695" y="1962302"/>
            <a:ext cx="60963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0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책이 끌고 가는 질문</a:t>
            </a:r>
            <a:endParaRPr lang="ko-KR" sz="3000" dirty="0" altLang="en-US"/>
          </a:p>
        </p:txBody>
      </p:sp>
      <p:sp>
        <p:nvSpPr>
          <p:cNvPr id="18" name="Text 13"/>
          <p:cNvSpPr txBox="1"/>
          <p:nvPr/>
        </p:nvSpPr>
        <p:spPr>
          <a:xfrm>
            <a:off x="11277295" y="3010205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150" kern="0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</a:t>
            </a:r>
            <a:endParaRPr lang="ko-KR" sz="1350" dirty="0" altLang="en-US"/>
          </a:p>
        </p:txBody>
      </p:sp>
      <p:sp>
        <p:nvSpPr>
          <p:cNvPr id="19" name="Text 14"/>
          <p:cNvSpPr txBox="1"/>
          <p:nvPr/>
        </p:nvSpPr>
        <p:spPr>
          <a:xfrm>
            <a:off x="11277295" y="3372307"/>
            <a:ext cx="2286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싸졌나</a:t>
            </a:r>
            <a:endParaRPr lang="ko-KR" sz="2250" dirty="0" altLang="en-US"/>
          </a:p>
        </p:txBody>
      </p:sp>
      <p:sp>
        <p:nvSpPr>
          <p:cNvPr id="20" name="Text 15"/>
          <p:cNvSpPr txBox="1"/>
          <p:nvPr/>
        </p:nvSpPr>
        <p:spPr>
          <a:xfrm>
            <a:off x="13716000" y="3161995"/>
            <a:ext cx="3238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1~2장 · 초안을 만드는 비용이 0에 가까워진 뒤, 블로그가 독자와 조직에 주던 것 가운데 무엇이 남는지</a:t>
            </a:r>
            <a:endParaRPr lang="ko-KR" sz="1500" dirty="0" altLang="en-US"/>
          </a:p>
        </p:txBody>
      </p:sp>
      <p:sp>
        <p:nvSpPr>
          <p:cNvPr id="21" name="Text 16"/>
          <p:cNvSpPr txBox="1"/>
          <p:nvPr/>
        </p:nvSpPr>
        <p:spPr>
          <a:xfrm>
            <a:off x="11277295" y="5067605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150" kern="0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</a:t>
            </a:r>
            <a:endParaRPr lang="ko-KR" sz="1350" dirty="0" altLang="en-US"/>
          </a:p>
        </p:txBody>
      </p:sp>
      <p:sp>
        <p:nvSpPr>
          <p:cNvPr id="22" name="Text 17"/>
          <p:cNvSpPr txBox="1"/>
          <p:nvPr/>
        </p:nvSpPr>
        <p:spPr>
          <a:xfrm>
            <a:off x="11277295" y="5429707"/>
            <a:ext cx="2286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편집국</a:t>
            </a:r>
            <a:endParaRPr lang="ko-KR" sz="2250" dirty="0" altLang="en-US"/>
          </a:p>
        </p:txBody>
      </p:sp>
      <p:sp>
        <p:nvSpPr>
          <p:cNvPr id="23" name="Text 18"/>
          <p:cNvSpPr txBox="1"/>
          <p:nvPr/>
        </p:nvSpPr>
        <p:spPr>
          <a:xfrm>
            <a:off x="13716000" y="5219395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3~7장 · 역할, 사실 검사, 문체 검사, AI 표기, 누적 관리</a:t>
            </a:r>
            <a:endParaRPr lang="ko-KR" sz="1500" dirty="0" altLang="en-US"/>
          </a:p>
        </p:txBody>
      </p:sp>
      <p:sp>
        <p:nvSpPr>
          <p:cNvPr id="24" name="Text 19"/>
          <p:cNvSpPr txBox="1"/>
          <p:nvPr/>
        </p:nvSpPr>
        <p:spPr>
          <a:xfrm>
            <a:off x="11277295" y="7125005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150" kern="0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</a:t>
            </a:r>
            <a:endParaRPr lang="ko-KR" sz="1350" dirty="0" altLang="en-US"/>
          </a:p>
        </p:txBody>
      </p:sp>
      <p:sp>
        <p:nvSpPr>
          <p:cNvPr id="25" name="Text 20"/>
          <p:cNvSpPr txBox="1"/>
          <p:nvPr/>
        </p:nvSpPr>
        <p:spPr>
          <a:xfrm>
            <a:off x="11277295" y="7487107"/>
            <a:ext cx="2286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블로그</a:t>
            </a:r>
            <a:endParaRPr lang="ko-KR" sz="2250" dirty="0" altLang="en-US"/>
          </a:p>
        </p:txBody>
      </p:sp>
      <p:sp>
        <p:nvSpPr>
          <p:cNvPr id="26" name="Text 21"/>
          <p:cNvSpPr txBox="1"/>
          <p:nvPr/>
        </p:nvSpPr>
        <p:spPr>
          <a:xfrm>
            <a:off x="13716000" y="7276795"/>
            <a:ext cx="323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i="1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8~11장 · 가설로 읽는 미래</a:t>
            </a:r>
            <a:endParaRPr lang="ko-KR" sz="1500" dirty="0" altLang="en-US"/>
          </a:p>
        </p:txBody>
      </p:sp>
      <p:sp>
        <p:nvSpPr>
          <p:cNvPr id="27" name="Text 22"/>
          <p:cNvSpPr txBox="1"/>
          <p:nvPr/>
        </p:nvSpPr>
        <p:spPr>
          <a:xfrm>
            <a:off x="13716000" y="7619695"/>
            <a:ext cx="379750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 가설 카드 · B 점검표 · C 제작 과정</a:t>
            </a:r>
            <a:endParaRPr lang="ko-KR" sz="1350" dirty="0" altLang="en-US"/>
          </a:p>
        </p:txBody>
      </p:sp>
      <p:sp>
        <p:nvSpPr>
          <p:cNvPr id="28" name="Text 23"/>
          <p:cNvSpPr txBox="1"/>
          <p:nvPr/>
        </p:nvSpPr>
        <p:spPr>
          <a:xfrm>
            <a:off x="1104595" y="9239098"/>
            <a:ext cx="1619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시점 2026-10-10 무렵 · v1.1.0 보강분은 2026-10-23 기준 · 사례는 매일 발행된 운영 사례고 효과 측정값은 아니다</a:t>
            </a:r>
            <a:endParaRPr lang="ko-KR" sz="1350" dirty="0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05 / 15</a:t>
            </a:r>
            <a:endParaRPr lang="ko-KR" sz="1350" dirty="0" altLang="en-US"/>
          </a:p>
        </p:txBody>
      </p:sp>
      <p:sp>
        <p:nvSpPr>
          <p:cNvPr id="4" name="Text 1"/>
          <p:cNvSpPr txBox="1"/>
          <p:nvPr/>
        </p:nvSpPr>
        <p:spPr>
          <a:xfrm>
            <a:off x="1143000" y="1238098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2장 · 블로그가 독자와 조직에 준 것</a:t>
            </a:r>
            <a:endParaRPr lang="ko-KR" sz="1350" dirty="0" altLang="en-US"/>
          </a:p>
        </p:txBody>
      </p:sp>
      <p:sp>
        <p:nvSpPr>
          <p:cNvPr id="5" name="Text 2"/>
          <p:cNvSpPr txBox="1"/>
          <p:nvPr/>
        </p:nvSpPr>
        <p:spPr>
          <a:xfrm>
            <a:off x="1143000" y="1580998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5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싸지는 것 · 남는 것 · 옮겨 가는 것</a:t>
            </a:r>
            <a:endParaRPr lang="ko-KR" sz="4500" dirty="0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23998"/>
          <a:ext cx="16002000" cy="5791200"/>
        </p:xfrm>
        <a:graphic>
          <a:graphicData uri="http://schemas.openxmlformats.org/drawingml/2006/table">
            <a:tbl>
              <a:tblPr/>
              <a:tblGrid>
                <a:gridCol w="5280660"/>
                <a:gridCol w="5280660"/>
                <a:gridCol w="544068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50" dirty="0" altLang="en-US">
                          <a:solidFill>
                            <a:srgbClr val="7A73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블로그가 준 것</a:t>
                      </a:r>
                      <a:endParaRPr lang="ko-KR" sz="13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50" dirty="0" altLang="en-US">
                          <a:solidFill>
                            <a:srgbClr val="7A73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원래 하던 일</a:t>
                      </a:r>
                      <a:endParaRPr lang="ko-KR" sz="13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sz="1350" dirty="0" altLang="en-US">
                          <a:solidFill>
                            <a:srgbClr val="7A736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이후 이 책의 판단</a:t>
                      </a:r>
                      <a:endParaRPr lang="ko-KR" sz="13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225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 정리 · 설명</a:t>
                      </a:r>
                      <a:endParaRPr lang="ko-KR" sz="22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650" dirty="0" altLang="en-US">
                          <a:solidFill>
                            <a:srgbClr val="3D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흩어진 문서를 모아 읽기 쉽게 풀어 줌</a:t>
                      </a:r>
                      <a:endParaRPr lang="ko-KR" sz="16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800" b="1" dirty="0" altLang="en-US">
                          <a:solidFill>
                            <a:srgbClr val="963A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싸진다 — 누구나 몇 초 만에 초안을 만든다</a:t>
                      </a:r>
                      <a:endParaRPr lang="ko-KR" sz="180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225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확인했다는 보증</a:t>
                      </a:r>
                      <a:endParaRPr lang="ko-KR" sz="22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650" dirty="0" altLang="en-US">
                          <a:solidFill>
                            <a:srgbClr val="3D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"직접 돌려 봤다, 내 이름을 건다"</a:t>
                      </a:r>
                      <a:endParaRPr lang="ko-KR" sz="16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80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남는다 — 오히려 드물어져 가치가 오를 수 있다</a:t>
                      </a:r>
                      <a:endParaRPr lang="ko-KR" sz="180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225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관점과 판단</a:t>
                      </a:r>
                      <a:endParaRPr lang="ko-KR" sz="22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650" dirty="0" altLang="en-US">
                          <a:solidFill>
                            <a:srgbClr val="3D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중요한지, 왜 그런지를 골라 줌</a:t>
                      </a:r>
                      <a:endParaRPr lang="ko-KR" sz="16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80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남는다 — 사람이 판단하고 책임질 일</a:t>
                      </a:r>
                      <a:endParaRPr lang="ko-KR" sz="180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225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독자와의 관계</a:t>
                      </a:r>
                      <a:endParaRPr lang="ko-KR" sz="22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650" dirty="0" altLang="en-US">
                          <a:solidFill>
                            <a:srgbClr val="3D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구독·댓글·커뮤니티로 이어진 독자층</a:t>
                      </a:r>
                      <a:endParaRPr lang="ko-KR" sz="16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80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남는다 — 다만 측정 방식이 바뀐다</a:t>
                      </a:r>
                      <a:endParaRPr lang="ko-KR" sz="180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225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 트래픽</a:t>
                      </a:r>
                      <a:endParaRPr lang="ko-KR" sz="22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650" dirty="0" altLang="en-US">
                          <a:solidFill>
                            <a:srgbClr val="3D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 엔진이 보내 주던 방문</a:t>
                      </a:r>
                      <a:endParaRPr lang="ko-KR" sz="16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800" b="1" dirty="0" altLang="en-US">
                          <a:solidFill>
                            <a:srgbClr val="A87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옮겨 간다 — AI 요약과 AI 답변 쪽으로</a:t>
                      </a:r>
                      <a:endParaRPr lang="ko-KR" sz="180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225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채용·개발 문화 노출</a:t>
                      </a:r>
                      <a:endParaRPr lang="ko-KR" sz="22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650" dirty="0" altLang="en-US">
                          <a:solidFill>
                            <a:srgbClr val="3D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지원자에게 일하는 방식을 미리 보여 줌</a:t>
                      </a:r>
                      <a:endParaRPr lang="ko-KR" sz="1650" dirty="0" altLang="en-US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800" b="1" dirty="0" altLang="en-US">
                          <a:solidFill>
                            <a:srgbClr val="1A1D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남되, 증명 방식이 바뀐다 </a:t>
                      </a:r>
                      <a:pPr indent="0" marL="0">
                        <a:buNone/>
                      </a:pPr>
                      <a:r>
                        <a:rPr lang="ko-KR" sz="1500" i="1" dirty="0" altLang="en-US">
                          <a:solidFill>
                            <a:srgbClr val="963A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가설</a:t>
                      </a:r>
                      <a:endParaRPr lang="ko-KR" sz="1200" dirty="0" altLang="en-US"/>
                    </a:p>
                  </a:txBody>
                  <a:tcPr marL="228600" marR="0" marT="95250" marB="95250" anchor="ctr">
                    <a:lnL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7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43000" y="9296705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2-1 · 행마다의 근거는 본문 표 2-1과 참고문헌에 실음 · 마지막 행의 "가설" 라벨은 아직 외부 근거가 약한 판단</a:t>
            </a:r>
            <a:endParaRPr lang="ko-KR" sz="1350" dirty="0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238805"/>
            <a:ext cx="2076602" cy="1933956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4" name="Shape 1"/>
          <p:cNvSpPr/>
          <p:nvPr/>
        </p:nvSpPr>
        <p:spPr>
          <a:xfrm>
            <a:off x="1143000" y="3238805"/>
            <a:ext cx="2076602" cy="28346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pic>
        <p:nvPicPr>
          <p:cNvPr id="5" name="Image 1" descr="gen-dedup-2b674da66252fb5bfbd1b987fefedfe4.png">    </p:cNvPr>
          <p:cNvPicPr>
            <a:picLocks noChangeAspect="1"/>
          </p:cNvPicPr>
          <p:nvPr/>
        </p:nvPicPr>
        <p:blipFill>
          <a:blip r:embed="rId2"/>
          <a:srcRect l="0" r="0" t="-343" b="-343"/>
          <a:stretch/>
        </p:blipFill>
        <p:spPr>
          <a:xfrm>
            <a:off x="3276295" y="4114800"/>
            <a:ext cx="133502" cy="192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48202" y="3238805"/>
            <a:ext cx="2076602" cy="1933956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7" name="Shape 3"/>
          <p:cNvSpPr/>
          <p:nvPr/>
        </p:nvSpPr>
        <p:spPr>
          <a:xfrm>
            <a:off x="3448202" y="3238805"/>
            <a:ext cx="2076602" cy="28346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pic>
        <p:nvPicPr>
          <p:cNvPr id="8" name="Image 2" descr="gen-dedup-2b674da66252fb5bfbd1b987fefedfe4.png">    </p:cNvPr>
          <p:cNvPicPr>
            <a:picLocks noChangeAspect="1"/>
          </p:cNvPicPr>
          <p:nvPr/>
        </p:nvPicPr>
        <p:blipFill>
          <a:blip r:embed="rId3"/>
          <a:srcRect l="0" r="0" t="-343" b="-343"/>
          <a:stretch/>
        </p:blipFill>
        <p:spPr>
          <a:xfrm>
            <a:off x="5581498" y="4114800"/>
            <a:ext cx="133502" cy="1920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53405" y="3238805"/>
            <a:ext cx="2076602" cy="1933956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10" name="Shape 5"/>
          <p:cNvSpPr/>
          <p:nvPr/>
        </p:nvSpPr>
        <p:spPr>
          <a:xfrm>
            <a:off x="5753405" y="3238805"/>
            <a:ext cx="2076602" cy="28346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pic>
        <p:nvPicPr>
          <p:cNvPr id="11" name="Image 3" descr="gen-dedup-2b674da66252fb5bfbd1b987fefedfe4.png">    </p:cNvPr>
          <p:cNvPicPr>
            <a:picLocks noChangeAspect="1"/>
          </p:cNvPicPr>
          <p:nvPr/>
        </p:nvPicPr>
        <p:blipFill>
          <a:blip r:embed="rId4"/>
          <a:srcRect l="0" r="0" t="-343" b="-343"/>
          <a:stretch/>
        </p:blipFill>
        <p:spPr>
          <a:xfrm>
            <a:off x="7886700" y="4114800"/>
            <a:ext cx="133502" cy="1920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58607" y="3238805"/>
            <a:ext cx="2076602" cy="1933956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13" name="Shape 7"/>
          <p:cNvSpPr/>
          <p:nvPr/>
        </p:nvSpPr>
        <p:spPr>
          <a:xfrm>
            <a:off x="8058607" y="3238805"/>
            <a:ext cx="2076602" cy="28346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pic>
        <p:nvPicPr>
          <p:cNvPr id="14" name="Image 4" descr="gen-dedup-2b674da66252fb5bfbd1b987fefedfe4.png">    </p:cNvPr>
          <p:cNvPicPr>
            <a:picLocks noChangeAspect="1"/>
          </p:cNvPicPr>
          <p:nvPr/>
        </p:nvPicPr>
        <p:blipFill>
          <a:blip r:embed="rId5"/>
          <a:srcRect l="0" r="0" t="-343" b="-343"/>
          <a:stretch/>
        </p:blipFill>
        <p:spPr>
          <a:xfrm>
            <a:off x="10191902" y="4114800"/>
            <a:ext cx="133502" cy="19202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0362895" y="3238805"/>
            <a:ext cx="2076602" cy="1933956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16" name="Shape 9"/>
          <p:cNvSpPr/>
          <p:nvPr/>
        </p:nvSpPr>
        <p:spPr>
          <a:xfrm>
            <a:off x="10362895" y="3238805"/>
            <a:ext cx="2076602" cy="28346"/>
          </a:xfrm>
          <a:prstGeom prst="rect">
            <a:avLst/>
          </a:prstGeom>
          <a:solidFill>
            <a:srgbClr val="C97C3D"/>
          </a:solidFill>
          <a:ln w="12700">
            <a:solidFill>
              <a:srgbClr val="C97C3D">
                <a:alpha val="0"/>
              </a:srgbClr>
            </a:solidFill>
            <a:prstDash val="solid"/>
          </a:ln>
        </p:spPr>
      </p:sp>
      <p:pic>
        <p:nvPicPr>
          <p:cNvPr id="17" name="Image 5" descr="gen-dedup-2b674da66252fb5bfbd1b987fefedfe4.png">    </p:cNvPr>
          <p:cNvPicPr>
            <a:picLocks noChangeAspect="1"/>
          </p:cNvPicPr>
          <p:nvPr/>
        </p:nvPicPr>
        <p:blipFill>
          <a:blip r:embed="rId6"/>
          <a:srcRect l="0" r="0" t="-343" b="-343"/>
          <a:stretch/>
        </p:blipFill>
        <p:spPr>
          <a:xfrm>
            <a:off x="12497105" y="4114800"/>
            <a:ext cx="133502" cy="19202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12668098" y="3238805"/>
            <a:ext cx="2076602" cy="1933956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19" name="Shape 11"/>
          <p:cNvSpPr/>
          <p:nvPr/>
        </p:nvSpPr>
        <p:spPr>
          <a:xfrm>
            <a:off x="12668098" y="3238805"/>
            <a:ext cx="2076602" cy="28346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pic>
        <p:nvPicPr>
          <p:cNvPr id="20" name="Image 6" descr="gen-dedup-2b674da66252fb5bfbd1b987fefedfe4.png">    </p:cNvPr>
          <p:cNvPicPr>
            <a:picLocks noChangeAspect="1"/>
          </p:cNvPicPr>
          <p:nvPr/>
        </p:nvPicPr>
        <p:blipFill>
          <a:blip r:embed="rId7"/>
          <a:srcRect l="0" r="0" t="-343" b="-343"/>
          <a:stretch/>
        </p:blipFill>
        <p:spPr>
          <a:xfrm>
            <a:off x="14802307" y="4114800"/>
            <a:ext cx="133502" cy="19202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4973300" y="3238805"/>
            <a:ext cx="2210105" cy="1933956"/>
          </a:xfrm>
          <a:prstGeom prst="rect">
            <a:avLst/>
          </a:prstGeom>
          <a:solidFill>
            <a:srgbClr val="E7DEC8"/>
          </a:solidFill>
          <a:ln/>
        </p:spPr>
      </p:sp>
      <p:sp>
        <p:nvSpPr>
          <p:cNvPr id="22" name="Shape 13"/>
          <p:cNvSpPr/>
          <p:nvPr/>
        </p:nvSpPr>
        <p:spPr>
          <a:xfrm>
            <a:off x="14973300" y="3238805"/>
            <a:ext cx="2210105" cy="28346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1143000" y="5810098"/>
            <a:ext cx="7619695" cy="266730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9525305" y="5810098"/>
            <a:ext cx="7638898" cy="2686507"/>
          </a:xfrm>
          <a:prstGeom prst="rect">
            <a:avLst/>
          </a:prstGeom>
          <a:solidFill>
            <a:srgbClr val="ECDFC5"/>
          </a:solidFill>
          <a:ln w="12700">
            <a:solidFill>
              <a:srgbClr val="963A26"/>
            </a:solidFill>
            <a:prstDash val="solid"/>
          </a:ln>
        </p:spPr>
      </p:sp>
      <p:pic>
        <p:nvPicPr>
          <p:cNvPr id="25" name="Image 7" descr="gen-dedup-037062689e6492c8a7de0d14534352d0.png">    </p:cNvPr>
          <p:cNvPicPr>
            <a:picLocks noChangeAspect="1"/>
          </p:cNvPicPr>
          <p:nvPr/>
        </p:nvPicPr>
        <p:blipFill>
          <a:blip r:embed="rId8"/>
          <a:srcRect l="-394" r="-394" t="0" b="0"/>
          <a:stretch/>
        </p:blipFill>
        <p:spPr>
          <a:xfrm>
            <a:off x="9525305" y="5810098"/>
            <a:ext cx="57607" cy="26673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06 / 15</a:t>
            </a:r>
            <a:endParaRPr lang="ko-KR" sz="1350" dirty="0" altLang="en-US"/>
          </a:p>
        </p:txBody>
      </p:sp>
      <p:sp>
        <p:nvSpPr>
          <p:cNvPr id="27" name="Text 17"/>
          <p:cNvSpPr txBox="1"/>
          <p:nvPr/>
        </p:nvSpPr>
        <p:spPr>
          <a:xfrm>
            <a:off x="1143000" y="1238098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3장 · DEVOTEE의 아침 — 한 편에 56.6분</a:t>
            </a:r>
            <a:endParaRPr lang="ko-KR" sz="1350" dirty="0" altLang="en-US"/>
          </a:p>
        </p:txBody>
      </p:sp>
      <p:sp>
        <p:nvSpPr>
          <p:cNvPr id="28" name="Text 18"/>
          <p:cNvSpPr txBox="1"/>
          <p:nvPr/>
        </p:nvSpPr>
        <p:spPr>
          <a:xfrm>
            <a:off x="1143000" y="1619402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5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아침 흐름에 없다.</a:t>
            </a:r>
            <a:endParaRPr lang="ko-KR" sz="4500" dirty="0" altLang="en-US"/>
          </a:p>
        </p:txBody>
      </p:sp>
      <p:sp>
        <p:nvSpPr>
          <p:cNvPr id="29" name="Text 19"/>
          <p:cNvSpPr txBox="1"/>
          <p:nvPr/>
        </p:nvSpPr>
        <p:spPr>
          <a:xfrm>
            <a:off x="1143000" y="2667305"/>
            <a:ext cx="14287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9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07:40, 실제 실행 09:20 ~ 10:20 · 발행 전 사람 승인 없음 · 사실 검사 단계 없음</a:t>
            </a:r>
            <a:endParaRPr lang="ko-KR" sz="1950" dirty="0" altLang="en-US"/>
          </a:p>
        </p:txBody>
      </p:sp>
      <p:sp>
        <p:nvSpPr>
          <p:cNvPr id="30" name="Text 20"/>
          <p:cNvSpPr txBox="1"/>
          <p:nvPr/>
        </p:nvSpPr>
        <p:spPr>
          <a:xfrm>
            <a:off x="1143000" y="3372307"/>
            <a:ext cx="20766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ko-KR" sz="1200" dirty="0" altLang="en-US"/>
          </a:p>
        </p:txBody>
      </p:sp>
      <p:sp>
        <p:nvSpPr>
          <p:cNvPr id="31" name="Text 21"/>
          <p:cNvSpPr txBox="1"/>
          <p:nvPr/>
        </p:nvSpPr>
        <p:spPr>
          <a:xfrm>
            <a:off x="1143000" y="3676802"/>
            <a:ext cx="20766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ko-KR" sz="2250" dirty="0" altLang="en-US"/>
          </a:p>
        </p:txBody>
      </p:sp>
      <p:sp>
        <p:nvSpPr>
          <p:cNvPr id="32" name="Text 22"/>
          <p:cNvSpPr txBox="1"/>
          <p:nvPr/>
        </p:nvSpPr>
        <p:spPr>
          <a:xfrm>
            <a:off x="1218895" y="4112971"/>
            <a:ext cx="19248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수집처 5곳 ·</a:t>
            </a:r>
            <a:pPr algn="ctr" indent="0" marL="0">
              <a:lnSpc>
                <a:spcPts val="1950"/>
              </a:lnSpc>
              <a:buNone/>
            </a:pPr>
            <a:endParaRPr lang="ko-KR" sz="1350" dirty="0" altLang="en-US"/>
          </a:p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가벼운 모델이 요약</a:t>
            </a:r>
            <a:endParaRPr lang="ko-KR" sz="1350" dirty="0" altLang="en-US"/>
          </a:p>
        </p:txBody>
      </p:sp>
      <p:sp>
        <p:nvSpPr>
          <p:cNvPr id="33" name="Text 23"/>
          <p:cNvSpPr txBox="1"/>
          <p:nvPr/>
        </p:nvSpPr>
        <p:spPr>
          <a:xfrm>
            <a:off x="3448202" y="3372307"/>
            <a:ext cx="20766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ko-KR" sz="1200" dirty="0" altLang="en-US"/>
          </a:p>
        </p:txBody>
      </p:sp>
      <p:sp>
        <p:nvSpPr>
          <p:cNvPr id="34" name="Text 24"/>
          <p:cNvSpPr txBox="1"/>
          <p:nvPr/>
        </p:nvSpPr>
        <p:spPr>
          <a:xfrm>
            <a:off x="3448202" y="3676802"/>
            <a:ext cx="20766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제거</a:t>
            </a:r>
            <a:endParaRPr lang="ko-KR" sz="2250" dirty="0" altLang="en-US"/>
          </a:p>
        </p:txBody>
      </p:sp>
      <p:sp>
        <p:nvSpPr>
          <p:cNvPr id="35" name="Text 25"/>
          <p:cNvSpPr txBox="1"/>
          <p:nvPr/>
        </p:nvSpPr>
        <p:spPr>
          <a:xfrm>
            <a:off x="3524098" y="4151376"/>
            <a:ext cx="19248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7일 글 제목·</a:t>
            </a:r>
            <a:pPr algn="ctr" indent="0" marL="0">
              <a:lnSpc>
                <a:spcPts val="1950"/>
              </a:lnSpc>
              <a:buNone/>
            </a:pPr>
            <a:endParaRPr lang="ko-KR" sz="1350" dirty="0" altLang="en-US"/>
          </a:p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태그로 거름</a:t>
            </a:r>
            <a:endParaRPr lang="ko-KR" sz="1350" dirty="0" altLang="en-US"/>
          </a:p>
        </p:txBody>
      </p:sp>
      <p:sp>
        <p:nvSpPr>
          <p:cNvPr id="36" name="Text 26"/>
          <p:cNvSpPr txBox="1"/>
          <p:nvPr/>
        </p:nvSpPr>
        <p:spPr>
          <a:xfrm>
            <a:off x="5753405" y="3372307"/>
            <a:ext cx="20766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ko-KR" sz="1200" dirty="0" altLang="en-US"/>
          </a:p>
        </p:txBody>
      </p:sp>
      <p:sp>
        <p:nvSpPr>
          <p:cNvPr id="37" name="Text 27"/>
          <p:cNvSpPr txBox="1"/>
          <p:nvPr/>
        </p:nvSpPr>
        <p:spPr>
          <a:xfrm>
            <a:off x="5753405" y="3676802"/>
            <a:ext cx="20766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ko-KR" sz="2250" dirty="0" altLang="en-US"/>
          </a:p>
        </p:txBody>
      </p:sp>
      <p:sp>
        <p:nvSpPr>
          <p:cNvPr id="38" name="Text 28"/>
          <p:cNvSpPr txBox="1"/>
          <p:nvPr/>
        </p:nvSpPr>
        <p:spPr>
          <a:xfrm>
            <a:off x="5829300" y="4151376"/>
            <a:ext cx="19248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12건 중</a:t>
            </a:r>
            <a:pPr algn="ctr" indent="0" marL="0">
              <a:lnSpc>
                <a:spcPts val="1950"/>
              </a:lnSpc>
              <a:buNone/>
            </a:pPr>
            <a:endParaRPr lang="ko-KR" sz="1350" dirty="0" altLang="en-US"/>
          </a:p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이어지는 2~3건</a:t>
            </a:r>
            <a:endParaRPr lang="ko-KR" sz="1350" dirty="0" altLang="en-US"/>
          </a:p>
        </p:txBody>
      </p:sp>
      <p:sp>
        <p:nvSpPr>
          <p:cNvPr id="39" name="Text 29"/>
          <p:cNvSpPr txBox="1"/>
          <p:nvPr/>
        </p:nvSpPr>
        <p:spPr>
          <a:xfrm>
            <a:off x="8058607" y="3372307"/>
            <a:ext cx="20766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ko-KR" sz="1200" dirty="0" altLang="en-US"/>
          </a:p>
        </p:txBody>
      </p:sp>
      <p:sp>
        <p:nvSpPr>
          <p:cNvPr id="40" name="Text 30"/>
          <p:cNvSpPr txBox="1"/>
          <p:nvPr/>
        </p:nvSpPr>
        <p:spPr>
          <a:xfrm>
            <a:off x="8058607" y="3676802"/>
            <a:ext cx="20766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ko-KR" sz="2250" dirty="0" altLang="en-US"/>
          </a:p>
        </p:txBody>
      </p:sp>
      <p:sp>
        <p:nvSpPr>
          <p:cNvPr id="41" name="Text 31"/>
          <p:cNvSpPr txBox="1"/>
          <p:nvPr/>
        </p:nvSpPr>
        <p:spPr>
          <a:xfrm>
            <a:off x="8134502" y="4151376"/>
            <a:ext cx="19248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문장 4종·</a:t>
            </a:r>
            <a:pPr algn="ctr" indent="0" marL="0">
              <a:lnSpc>
                <a:spcPts val="1950"/>
              </a:lnSpc>
              <a:buNone/>
            </a:pPr>
            <a:endParaRPr lang="ko-KR" sz="1350" dirty="0" altLang="en-US"/>
          </a:p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10.8분의 초안</a:t>
            </a:r>
            <a:endParaRPr lang="ko-KR" sz="1350" dirty="0" altLang="en-US"/>
          </a:p>
        </p:txBody>
      </p:sp>
      <p:sp>
        <p:nvSpPr>
          <p:cNvPr id="42" name="Text 32"/>
          <p:cNvSpPr txBox="1"/>
          <p:nvPr/>
        </p:nvSpPr>
        <p:spPr>
          <a:xfrm>
            <a:off x="10362895" y="3372307"/>
            <a:ext cx="20766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1200" i="1" spc="150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ko-KR" sz="1200" dirty="0" altLang="en-US"/>
          </a:p>
        </p:txBody>
      </p:sp>
      <p:sp>
        <p:nvSpPr>
          <p:cNvPr id="43" name="Text 33"/>
          <p:cNvSpPr txBox="1"/>
          <p:nvPr/>
        </p:nvSpPr>
        <p:spPr>
          <a:xfrm>
            <a:off x="10362895" y="3676802"/>
            <a:ext cx="20766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문체 검사</a:t>
            </a:r>
            <a:endParaRPr lang="ko-KR" sz="2250" dirty="0" altLang="en-US"/>
          </a:p>
        </p:txBody>
      </p:sp>
      <p:sp>
        <p:nvSpPr>
          <p:cNvPr id="44" name="Text 34"/>
          <p:cNvSpPr txBox="1"/>
          <p:nvPr/>
        </p:nvSpPr>
        <p:spPr>
          <a:xfrm>
            <a:off x="10439705" y="4111142"/>
            <a:ext cx="1924812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ko-KR" sz="12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상투어·Jev·</a:t>
            </a:r>
            <a:pPr algn="ctr" indent="0" marL="0">
              <a:lnSpc>
                <a:spcPts val="1800"/>
              </a:lnSpc>
              <a:buNone/>
            </a:pPr>
            <a:endParaRPr lang="ko-KR" sz="1200" dirty="0" altLang="en-US"/>
          </a:p>
          <a:p>
            <a:pPr algn="ctr" indent="0" marL="0">
              <a:lnSpc>
                <a:spcPts val="1800"/>
              </a:lnSpc>
              <a:buNone/>
            </a:pPr>
            <a:r>
              <a:rPr lang="ko-KR" sz="12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날조·문법</a:t>
            </a:r>
            <a:pPr algn="ctr" indent="0" marL="0">
              <a:lnSpc>
                <a:spcPts val="1800"/>
              </a:lnSpc>
              <a:buNone/>
            </a:pPr>
            <a:endParaRPr lang="ko-KR" sz="1200" dirty="0" altLang="en-US"/>
          </a:p>
          <a:p>
            <a:pPr algn="ctr" indent="0" marL="0">
              <a:lnSpc>
                <a:spcPts val="1800"/>
              </a:lnSpc>
              <a:buNone/>
            </a:pPr>
            <a:r>
              <a:rPr lang="ko-KR" sz="105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재작성 최대 2회·40분</a:t>
            </a:r>
            <a:endParaRPr lang="ko-KR" sz="1200" dirty="0" altLang="en-US"/>
          </a:p>
        </p:txBody>
      </p:sp>
      <p:sp>
        <p:nvSpPr>
          <p:cNvPr id="45" name="Text 35"/>
          <p:cNvSpPr txBox="1"/>
          <p:nvPr/>
        </p:nvSpPr>
        <p:spPr>
          <a:xfrm>
            <a:off x="12668098" y="3372307"/>
            <a:ext cx="207660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ko-KR" sz="1200" dirty="0" altLang="en-US"/>
          </a:p>
        </p:txBody>
      </p:sp>
      <p:sp>
        <p:nvSpPr>
          <p:cNvPr id="46" name="Text 36"/>
          <p:cNvSpPr txBox="1"/>
          <p:nvPr/>
        </p:nvSpPr>
        <p:spPr>
          <a:xfrm>
            <a:off x="12668098" y="3676802"/>
            <a:ext cx="207660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</a:t>
            </a:r>
            <a:endParaRPr lang="ko-KR" sz="2250" dirty="0" altLang="en-US"/>
          </a:p>
        </p:txBody>
      </p:sp>
      <p:sp>
        <p:nvSpPr>
          <p:cNvPr id="47" name="Text 37"/>
          <p:cNvSpPr txBox="1"/>
          <p:nvPr/>
        </p:nvSpPr>
        <p:spPr>
          <a:xfrm>
            <a:off x="12744907" y="4151376"/>
            <a:ext cx="1924812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자동화·</a:t>
            </a:r>
            <a:pPr algn="ctr" indent="0" marL="0">
              <a:lnSpc>
                <a:spcPts val="1950"/>
              </a:lnSpc>
              <a:buNone/>
            </a:pPr>
            <a:endParaRPr lang="ko-KR" sz="1350" dirty="0" altLang="en-US"/>
          </a:p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승인 없음</a:t>
            </a:r>
            <a:endParaRPr lang="ko-KR" sz="1350" dirty="0" altLang="en-US"/>
          </a:p>
        </p:txBody>
      </p:sp>
      <p:sp>
        <p:nvSpPr>
          <p:cNvPr id="48" name="Text 38"/>
          <p:cNvSpPr txBox="1"/>
          <p:nvPr/>
        </p:nvSpPr>
        <p:spPr>
          <a:xfrm>
            <a:off x="14973300" y="3372307"/>
            <a:ext cx="22101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ko-KR" sz="1200" dirty="0" altLang="en-US"/>
          </a:p>
        </p:txBody>
      </p:sp>
      <p:sp>
        <p:nvSpPr>
          <p:cNvPr id="49" name="Text 39"/>
          <p:cNvSpPr txBox="1"/>
          <p:nvPr/>
        </p:nvSpPr>
        <p:spPr>
          <a:xfrm>
            <a:off x="14973300" y="3676802"/>
            <a:ext cx="22101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홍보 · 첫 댓글</a:t>
            </a:r>
            <a:endParaRPr lang="ko-KR" sz="2250" dirty="0" altLang="en-US"/>
          </a:p>
        </p:txBody>
      </p:sp>
      <p:sp>
        <p:nvSpPr>
          <p:cNvPr id="50" name="Text 40"/>
          <p:cNvSpPr txBox="1"/>
          <p:nvPr/>
        </p:nvSpPr>
        <p:spPr>
          <a:xfrm>
            <a:off x="15049195" y="4132174"/>
            <a:ext cx="205740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Threads 자동 홍보·</a:t>
            </a:r>
            <a:pPr algn="ctr" indent="0" marL="0">
              <a:lnSpc>
                <a:spcPts val="1950"/>
              </a:lnSpc>
              <a:buNone/>
            </a:pPr>
            <a:endParaRPr lang="ko-KR" sz="1350" dirty="0" altLang="en-US"/>
          </a:p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Opus 별도 계정</a:t>
            </a:r>
            <a:pPr algn="ctr" indent="0" marL="0">
              <a:lnSpc>
                <a:spcPts val="1950"/>
              </a:lnSpc>
              <a:buNone/>
            </a:pPr>
            <a:endParaRPr lang="ko-KR" sz="1350" dirty="0" altLang="en-US"/>
          </a:p>
          <a:p>
            <a:pPr algn="ctr" indent="0" marL="0">
              <a:lnSpc>
                <a:spcPts val="19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댓글</a:t>
            </a:r>
            <a:endParaRPr lang="ko-KR" sz="1350" dirty="0" altLang="en-US"/>
          </a:p>
        </p:txBody>
      </p:sp>
      <p:sp>
        <p:nvSpPr>
          <p:cNvPr id="51" name="Text 41"/>
          <p:cNvSpPr txBox="1"/>
          <p:nvPr/>
        </p:nvSpPr>
        <p:spPr>
          <a:xfrm>
            <a:off x="1524305" y="6077102"/>
            <a:ext cx="6858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05 단계의 메모</a:t>
            </a:r>
            <a:endParaRPr lang="ko-KR" sz="1350" dirty="0" altLang="en-US"/>
          </a:p>
        </p:txBody>
      </p:sp>
      <p:sp>
        <p:nvSpPr>
          <p:cNvPr id="52" name="Text 42"/>
          <p:cNvSpPr txBox="1"/>
          <p:nvPr/>
        </p:nvSpPr>
        <p:spPr>
          <a:xfrm>
            <a:off x="1524305" y="6381598"/>
            <a:ext cx="6858000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sz="40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"재생성 신호이지</a:t>
            </a:r>
            <a:pPr algn="l" indent="0" marL="0">
              <a:lnSpc>
                <a:spcPct val="115000"/>
              </a:lnSpc>
              <a:buNone/>
            </a:pPr>
            <a:endParaRPr lang="ko-KR" sz="4050" dirty="0" altLang="en-US"/>
          </a:p>
          <a:p>
            <a:pPr algn="l" indent="0" marL="0">
              <a:lnSpc>
                <a:spcPct val="115000"/>
              </a:lnSpc>
              <a:buNone/>
            </a:pPr>
            <a:r>
              <a:rPr lang="ko-KR" sz="40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차단이 아님."</a:t>
            </a:r>
            <a:endParaRPr lang="ko-KR" sz="4050" dirty="0" altLang="en-US"/>
          </a:p>
        </p:txBody>
      </p:sp>
      <p:sp>
        <p:nvSpPr>
          <p:cNvPr id="53" name="Text 43"/>
          <p:cNvSpPr txBox="1"/>
          <p:nvPr/>
        </p:nvSpPr>
        <p:spPr>
          <a:xfrm>
            <a:off x="1524305" y="7791602"/>
            <a:ext cx="6858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dirty="0" altLang="en-US">
                <a:solidFill>
                  <a:srgbClr val="A8A2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걸려도 끝까지 막진 않는다 — 벌점이 가장 낮은 글이 발행된다.</a:t>
            </a:r>
            <a:endParaRPr lang="ko-KR" sz="1500" dirty="0" altLang="en-US"/>
          </a:p>
        </p:txBody>
      </p:sp>
      <p:sp>
        <p:nvSpPr>
          <p:cNvPr id="54" name="Text 44"/>
          <p:cNvSpPr txBox="1"/>
          <p:nvPr/>
        </p:nvSpPr>
        <p:spPr>
          <a:xfrm>
            <a:off x="9905695" y="6077102"/>
            <a:ext cx="6858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빠진 한 단계</a:t>
            </a:r>
            <a:endParaRPr lang="ko-KR" sz="1350" dirty="0" altLang="en-US"/>
          </a:p>
        </p:txBody>
      </p:sp>
      <p:sp>
        <p:nvSpPr>
          <p:cNvPr id="55" name="Text 45"/>
          <p:cNvSpPr txBox="1"/>
          <p:nvPr/>
        </p:nvSpPr>
        <p:spPr>
          <a:xfrm>
            <a:off x="9905695" y="6381598"/>
            <a:ext cx="6858000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sz="40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 검사 단계는</a:t>
            </a:r>
            <a:pPr algn="l" indent="0" marL="0">
              <a:lnSpc>
                <a:spcPct val="115000"/>
              </a:lnSpc>
              <a:buNone/>
            </a:pPr>
            <a:endParaRPr lang="ko-KR" sz="4050" dirty="0" altLang="en-US"/>
          </a:p>
          <a:p>
            <a:pPr algn="l" indent="0" marL="0">
              <a:lnSpc>
                <a:spcPct val="115000"/>
              </a:lnSpc>
              <a:buNone/>
            </a:pPr>
            <a:r>
              <a:rPr lang="ko-KR" sz="40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흐름에 없다.</a:t>
            </a:r>
            <a:endParaRPr lang="ko-KR" sz="4050" dirty="0" altLang="en-US"/>
          </a:p>
        </p:txBody>
      </p:sp>
      <p:sp>
        <p:nvSpPr>
          <p:cNvPr id="56" name="Text 46"/>
          <p:cNvSpPr txBox="1"/>
          <p:nvPr/>
        </p:nvSpPr>
        <p:spPr>
          <a:xfrm>
            <a:off x="9905695" y="7791602"/>
            <a:ext cx="6858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글을 잘못 읽은 문장을 잡아낼 장치는 다음 장에서 — 4장의 출발점.</a:t>
            </a:r>
            <a:endParaRPr lang="ko-KR" sz="1500" dirty="0" altLang="en-US"/>
          </a:p>
        </p:txBody>
      </p:sp>
      <p:sp>
        <p:nvSpPr>
          <p:cNvPr id="57" name="Text 47"/>
          <p:cNvSpPr txBox="1"/>
          <p:nvPr/>
        </p:nvSpPr>
        <p:spPr>
          <a:xfrm>
            <a:off x="1143000" y="8762695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2026-10-07 사례 · 첫 초안 10.8분, 문체 검사로 두 번 재작성 · 총 56.6분 · 10/11~23의 13일 중 8일에 self-improve 브랜치로 기준 수정</a:t>
            </a:r>
            <a:endParaRPr lang="ko-KR" sz="1350" dirty="0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238805"/>
            <a:ext cx="7810805" cy="266730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3238805"/>
            <a:ext cx="7810805" cy="2686507"/>
          </a:xfrm>
          <a:prstGeom prst="rect">
            <a:avLst/>
          </a:prstGeom>
          <a:solidFill>
            <a:srgbClr val="ECDFC5"/>
          </a:solidFill>
          <a:ln/>
        </p:spPr>
      </p:sp>
      <p:sp>
        <p:nvSpPr>
          <p:cNvPr id="5" name="Shape 2"/>
          <p:cNvSpPr/>
          <p:nvPr/>
        </p:nvSpPr>
        <p:spPr>
          <a:xfrm>
            <a:off x="9334195" y="3238805"/>
            <a:ext cx="7810805" cy="19202"/>
          </a:xfrm>
          <a:prstGeom prst="rect">
            <a:avLst/>
          </a:prstGeom>
          <a:solidFill>
            <a:srgbClr val="C97C3D"/>
          </a:solidFill>
          <a:ln w="12700">
            <a:solidFill>
              <a:srgbClr val="C97C3D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6286500"/>
            <a:ext cx="7810805" cy="2686507"/>
          </a:xfrm>
          <a:prstGeom prst="rect">
            <a:avLst/>
          </a:prstGeom>
          <a:solidFill>
            <a:srgbClr val="ECDFC5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6286500"/>
            <a:ext cx="7810805" cy="19202"/>
          </a:xfrm>
          <a:prstGeom prst="rect">
            <a:avLst/>
          </a:prstGeom>
          <a:solidFill>
            <a:srgbClr val="C97C3D"/>
          </a:solidFill>
          <a:ln w="12700">
            <a:solidFill>
              <a:srgbClr val="C97C3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34195" y="6286500"/>
            <a:ext cx="7810805" cy="266730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07 / 15</a:t>
            </a:r>
            <a:endParaRPr lang="ko-KR" sz="1350" dirty="0" altLang="en-US"/>
          </a:p>
        </p:txBody>
      </p:sp>
      <p:sp>
        <p:nvSpPr>
          <p:cNvPr id="10" name="Text 7"/>
          <p:cNvSpPr txBox="1"/>
          <p:nvPr/>
        </p:nvSpPr>
        <p:spPr>
          <a:xfrm>
            <a:off x="1143000" y="1238098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3장 · 사람에게 남기는 일</a:t>
            </a:r>
            <a:endParaRPr lang="ko-KR" sz="1350" dirty="0" altLang="en-US"/>
          </a:p>
        </p:txBody>
      </p:sp>
      <p:sp>
        <p:nvSpPr>
          <p:cNvPr id="11" name="Text 8"/>
          <p:cNvSpPr txBox="1"/>
          <p:nvPr/>
        </p:nvSpPr>
        <p:spPr>
          <a:xfrm>
            <a:off x="1143000" y="1619402"/>
            <a:ext cx="142875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8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맡는 네 가지 일</a:t>
            </a:r>
            <a:endParaRPr lang="ko-KR" sz="4800" dirty="0" altLang="en-US"/>
          </a:p>
        </p:txBody>
      </p:sp>
      <p:sp>
        <p:nvSpPr>
          <p:cNvPr id="12" name="Text 9"/>
          <p:cNvSpPr txBox="1"/>
          <p:nvPr/>
        </p:nvSpPr>
        <p:spPr>
          <a:xfrm>
            <a:off x="1143000" y="2743200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"마지막에 검토한다"는 늘 통하지 않는다 — 셋은 초안보다 앞에, 하나는 발행 뒤에 있다.</a:t>
            </a:r>
            <a:endParaRPr lang="ko-KR" sz="1800" dirty="0" altLang="en-US"/>
          </a:p>
        </p:txBody>
      </p:sp>
      <p:sp>
        <p:nvSpPr>
          <p:cNvPr id="13" name="Text 10"/>
          <p:cNvSpPr txBox="1"/>
          <p:nvPr/>
        </p:nvSpPr>
        <p:spPr>
          <a:xfrm>
            <a:off x="1447495" y="3504895"/>
            <a:ext cx="2286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① BEFORE</a:t>
            </a:r>
            <a:endParaRPr lang="ko-KR" sz="1350" dirty="0" altLang="en-US"/>
          </a:p>
        </p:txBody>
      </p:sp>
      <p:sp>
        <p:nvSpPr>
          <p:cNvPr id="14" name="Text 11"/>
          <p:cNvSpPr txBox="1"/>
          <p:nvPr/>
        </p:nvSpPr>
        <p:spPr>
          <a:xfrm>
            <a:off x="1447495" y="3829507"/>
            <a:ext cx="5715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0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전의 결정</a:t>
            </a:r>
            <a:endParaRPr lang="ko-KR" sz="4050" dirty="0" altLang="en-US"/>
          </a:p>
        </p:txBody>
      </p:sp>
      <p:sp>
        <p:nvSpPr>
          <p:cNvPr id="15" name="Text 12"/>
          <p:cNvSpPr txBox="1"/>
          <p:nvPr/>
        </p:nvSpPr>
        <p:spPr>
          <a:xfrm>
            <a:off x="1447495" y="4572000"/>
            <a:ext cx="6858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sz="16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독자는 누구인가 · 무엇을 약속하는가 · 어떤 관점과 근거에 기대는가 · 독자가 다른 곳에서 얻을 수 없는 것은 무엇인가</a:t>
            </a:r>
            <a:endParaRPr lang="ko-KR" sz="1650" dirty="0" altLang="en-US"/>
          </a:p>
        </p:txBody>
      </p:sp>
      <p:sp>
        <p:nvSpPr>
          <p:cNvPr id="16" name="Text 13"/>
          <p:cNvSpPr txBox="1"/>
          <p:nvPr/>
        </p:nvSpPr>
        <p:spPr>
          <a:xfrm>
            <a:off x="9639605" y="3504895"/>
            <a:ext cx="2286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② MATERIAL</a:t>
            </a:r>
            <a:endParaRPr lang="ko-KR" sz="1350" dirty="0" altLang="en-US"/>
          </a:p>
        </p:txBody>
      </p:sp>
      <p:sp>
        <p:nvSpPr>
          <p:cNvPr id="17" name="Text 14"/>
          <p:cNvSpPr txBox="1"/>
          <p:nvPr/>
        </p:nvSpPr>
        <p:spPr>
          <a:xfrm>
            <a:off x="9639605" y="3829507"/>
            <a:ext cx="5715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0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원재료 제공</a:t>
            </a:r>
            <a:endParaRPr lang="ko-KR" sz="4050" dirty="0" altLang="en-US"/>
          </a:p>
        </p:txBody>
      </p:sp>
      <p:sp>
        <p:nvSpPr>
          <p:cNvPr id="18" name="Text 15"/>
          <p:cNvSpPr txBox="1"/>
          <p:nvPr/>
        </p:nvSpPr>
        <p:spPr>
          <a:xfrm>
            <a:off x="9639605" y="4572000"/>
            <a:ext cx="6858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겪은 장애와 그 원인 · 팀이 내린 결정과 그 이유 · 직접 잰 측정값 · 인터뷰에서 들은 이야기</a:t>
            </a:r>
            <a:endParaRPr lang="ko-KR" sz="1650" dirty="0" altLang="en-US"/>
          </a:p>
        </p:txBody>
      </p:sp>
      <p:sp>
        <p:nvSpPr>
          <p:cNvPr id="19" name="Text 16"/>
          <p:cNvSpPr txBox="1"/>
          <p:nvPr/>
        </p:nvSpPr>
        <p:spPr>
          <a:xfrm>
            <a:off x="1447495" y="6553505"/>
            <a:ext cx="2286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③ DURING</a:t>
            </a:r>
            <a:endParaRPr lang="ko-KR" sz="1350" dirty="0" altLang="en-US"/>
          </a:p>
        </p:txBody>
      </p:sp>
      <p:sp>
        <p:nvSpPr>
          <p:cNvPr id="20" name="Text 17"/>
          <p:cNvSpPr txBox="1"/>
          <p:nvPr/>
        </p:nvSpPr>
        <p:spPr>
          <a:xfrm>
            <a:off x="1447495" y="6877202"/>
            <a:ext cx="5715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0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판단</a:t>
            </a:r>
            <a:endParaRPr lang="ko-KR" sz="4050" dirty="0" altLang="en-US"/>
          </a:p>
        </p:txBody>
      </p:sp>
      <p:sp>
        <p:nvSpPr>
          <p:cNvPr id="21" name="Text 18"/>
          <p:cNvSpPr txBox="1"/>
          <p:nvPr/>
        </p:nvSpPr>
        <p:spPr>
          <a:xfrm>
            <a:off x="1447495" y="7619695"/>
            <a:ext cx="7049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넘길지 단계마다 판단한다 — DEVOTEE에서는 사람이 정한 지시문의 기준이 이 판단을 대신한다</a:t>
            </a:r>
            <a:endParaRPr lang="ko-KR" sz="1650" dirty="0" altLang="en-US"/>
          </a:p>
        </p:txBody>
      </p:sp>
      <p:sp>
        <p:nvSpPr>
          <p:cNvPr id="22" name="Text 19"/>
          <p:cNvSpPr txBox="1"/>
          <p:nvPr/>
        </p:nvSpPr>
        <p:spPr>
          <a:xfrm>
            <a:off x="9639605" y="6553505"/>
            <a:ext cx="2286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④ AFTER</a:t>
            </a:r>
            <a:endParaRPr lang="ko-KR" sz="1350" dirty="0" altLang="en-US"/>
          </a:p>
        </p:txBody>
      </p:sp>
      <p:sp>
        <p:nvSpPr>
          <p:cNvPr id="23" name="Text 20"/>
          <p:cNvSpPr txBox="1"/>
          <p:nvPr/>
        </p:nvSpPr>
        <p:spPr>
          <a:xfrm>
            <a:off x="9639605" y="6877202"/>
            <a:ext cx="7239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0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후 책임 검증</a:t>
            </a:r>
            <a:endParaRPr lang="ko-KR" sz="4050" dirty="0" altLang="en-US"/>
          </a:p>
        </p:txBody>
      </p:sp>
      <p:sp>
        <p:nvSpPr>
          <p:cNvPr id="24" name="Text 21"/>
          <p:cNvSpPr txBox="1"/>
          <p:nvPr/>
        </p:nvSpPr>
        <p:spPr>
          <a:xfrm>
            <a:off x="9639605" y="7619695"/>
            <a:ext cx="826251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걸고 책임진다 · 승인이 없을수록 정정 절차를 자세히</a:t>
            </a:r>
            <a:endParaRPr lang="ko-KR" sz="1650" dirty="0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105302"/>
            <a:ext cx="16002000" cy="13331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83ce7249fff48626844050abb698af66.png">    </p:cNvPr>
          <p:cNvPicPr>
            <a:picLocks noChangeAspect="1"/>
          </p:cNvPicPr>
          <p:nvPr/>
        </p:nvPicPr>
        <p:blipFill>
          <a:blip r:embed="rId2"/>
          <a:srcRect l="0" r="0" t="-2111" b="-2111"/>
          <a:stretch/>
        </p:blipFill>
        <p:spPr>
          <a:xfrm>
            <a:off x="6476695" y="3372307"/>
            <a:ext cx="9144" cy="85770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43000" y="4552798"/>
            <a:ext cx="16002000" cy="1333195"/>
          </a:xfrm>
          <a:prstGeom prst="rect">
            <a:avLst/>
          </a:prstGeom>
          <a:solidFill>
            <a:srgbClr val="E7DE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83ce7249fff48626844050abb698af66.png">    </p:cNvPr>
          <p:cNvPicPr>
            <a:picLocks noChangeAspect="1"/>
          </p:cNvPicPr>
          <p:nvPr/>
        </p:nvPicPr>
        <p:blipFill>
          <a:blip r:embed="rId3"/>
          <a:srcRect l="0" r="0" t="-2111" b="-2111"/>
          <a:stretch/>
        </p:blipFill>
        <p:spPr>
          <a:xfrm>
            <a:off x="6476695" y="4819802"/>
            <a:ext cx="9144" cy="85770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43000" y="6001207"/>
            <a:ext cx="16002000" cy="13331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83ce7249fff48626844050abb698af66.png">    </p:cNvPr>
          <p:cNvPicPr>
            <a:picLocks noChangeAspect="1"/>
          </p:cNvPicPr>
          <p:nvPr/>
        </p:nvPicPr>
        <p:blipFill>
          <a:blip r:embed="rId4"/>
          <a:srcRect l="0" r="0" t="-2111" b="-2111"/>
          <a:stretch/>
        </p:blipFill>
        <p:spPr>
          <a:xfrm>
            <a:off x="6476695" y="6267298"/>
            <a:ext cx="9144" cy="857707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143000" y="7448702"/>
            <a:ext cx="16002000" cy="1333195"/>
          </a:xfrm>
          <a:prstGeom prst="rect">
            <a:avLst/>
          </a:prstGeom>
          <a:solidFill>
            <a:srgbClr val="E7DE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4" descr="gen-dedup-83ce7249fff48626844050abb698af66.png">    </p:cNvPr>
          <p:cNvPicPr>
            <a:picLocks noChangeAspect="1"/>
          </p:cNvPicPr>
          <p:nvPr/>
        </p:nvPicPr>
        <p:blipFill>
          <a:blip r:embed="rId5"/>
          <a:srcRect l="0" r="0" t="-2111" b="-2111"/>
          <a:stretch/>
        </p:blipFill>
        <p:spPr>
          <a:xfrm>
            <a:off x="6476695" y="7715707"/>
            <a:ext cx="9144" cy="857707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08 / 15</a:t>
            </a:r>
            <a:endParaRPr lang="ko-KR" sz="1350" dirty="0" altLang="en-US"/>
          </a:p>
        </p:txBody>
      </p:sp>
      <p:sp>
        <p:nvSpPr>
          <p:cNvPr id="12" name="Text 5"/>
          <p:cNvSpPr txBox="1"/>
          <p:nvPr/>
        </p:nvSpPr>
        <p:spPr>
          <a:xfrm>
            <a:off x="1143000" y="1238098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4장 · 사람이 있어도 샌다</a:t>
            </a:r>
            <a:endParaRPr lang="ko-KR" sz="1350" dirty="0" altLang="en-US"/>
          </a:p>
        </p:txBody>
      </p:sp>
      <p:sp>
        <p:nvSpPr>
          <p:cNvPr id="13" name="Text 6"/>
          <p:cNvSpPr txBox="1"/>
          <p:nvPr/>
        </p:nvSpPr>
        <p:spPr>
          <a:xfrm>
            <a:off x="1143000" y="1580998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5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4유형과 막았어야 할 게이트</a:t>
            </a:r>
            <a:endParaRPr lang="ko-KR" sz="4500" dirty="0" altLang="en-US"/>
          </a:p>
        </p:txBody>
      </p:sp>
      <p:sp>
        <p:nvSpPr>
          <p:cNvPr id="14" name="Text 7"/>
          <p:cNvSpPr txBox="1"/>
          <p:nvPr/>
        </p:nvSpPr>
        <p:spPr>
          <a:xfrm>
            <a:off x="1143000" y="2361895"/>
            <a:ext cx="14287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CNET 2023-01 · AI 금융 글 77편은 편집자가 고쳤는데도 오류가 나왔다 — 확인은 도구 하나로 끝나지 않는다</a:t>
            </a:r>
            <a:endParaRPr lang="ko-KR" sz="1650" dirty="0" altLang="en-US"/>
          </a:p>
        </p:txBody>
      </p:sp>
      <p:sp>
        <p:nvSpPr>
          <p:cNvPr id="15" name="Text 8"/>
          <p:cNvSpPr txBox="1"/>
          <p:nvPr/>
        </p:nvSpPr>
        <p:spPr>
          <a:xfrm>
            <a:off x="1447495" y="3276295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템플릿 변수 누출</a:t>
            </a:r>
            <a:endParaRPr lang="ko-KR" sz="2250" dirty="0" altLang="en-US"/>
          </a:p>
        </p:txBody>
      </p:sp>
      <p:sp>
        <p:nvSpPr>
          <p:cNvPr id="16" name="Text 9"/>
          <p:cNvSpPr txBox="1"/>
          <p:nvPr/>
        </p:nvSpPr>
        <p:spPr>
          <a:xfrm>
            <a:off x="1447495" y="3829507"/>
            <a:ext cx="457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Gannett · LedeAI </a:t>
            </a:r>
            <a:pPr algn="l" indent="0" marL="0">
              <a:buNone/>
            </a:pPr>
            <a:r>
              <a:rPr lang="ko-KR" sz="150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2023-08</a:t>
            </a:r>
            <a:endParaRPr lang="ko-KR" sz="1500" dirty="0" altLang="en-US"/>
          </a:p>
        </p:txBody>
      </p:sp>
      <p:sp>
        <p:nvSpPr>
          <p:cNvPr id="17" name="Text 10"/>
          <p:cNvSpPr txBox="1"/>
          <p:nvPr/>
        </p:nvSpPr>
        <p:spPr>
          <a:xfrm>
            <a:off x="6858000" y="3372307"/>
            <a:ext cx="3810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막았어야 할 게이트</a:t>
            </a:r>
            <a:endParaRPr lang="ko-KR" sz="1200" dirty="0" altLang="en-US"/>
          </a:p>
        </p:txBody>
      </p:sp>
      <p:sp>
        <p:nvSpPr>
          <p:cNvPr id="18" name="Text 11"/>
          <p:cNvSpPr txBox="1"/>
          <p:nvPr/>
        </p:nvSpPr>
        <p:spPr>
          <a:xfrm>
            <a:off x="6858000" y="3676802"/>
            <a:ext cx="9906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직전 형식 검사 </a:t>
            </a:r>
            <a:pPr algn="l" indent="0" marL="0">
              <a:buNone/>
            </a:pPr>
            <a:r>
              <a:rPr lang="ko-KR" sz="1650" b="1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판단이 필요 없는 결함은 코드로</a:t>
            </a:r>
            <a:endParaRPr lang="ko-KR" sz="2400" dirty="0" altLang="en-US"/>
          </a:p>
        </p:txBody>
      </p:sp>
      <p:sp>
        <p:nvSpPr>
          <p:cNvPr id="19" name="Text 12"/>
          <p:cNvSpPr txBox="1"/>
          <p:nvPr/>
        </p:nvSpPr>
        <p:spPr>
          <a:xfrm>
            <a:off x="1447495" y="4724705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사실 날조</a:t>
            </a:r>
            <a:endParaRPr lang="ko-KR" sz="2250" dirty="0" altLang="en-US"/>
          </a:p>
        </p:txBody>
      </p:sp>
      <p:sp>
        <p:nvSpPr>
          <p:cNvPr id="20" name="Text 13"/>
          <p:cNvSpPr txBox="1"/>
          <p:nvPr/>
        </p:nvSpPr>
        <p:spPr>
          <a:xfrm>
            <a:off x="1447495" y="5277002"/>
            <a:ext cx="457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Chicago Sun-Times 여름 도서 목록 </a:t>
            </a:r>
            <a:pPr algn="l" indent="0" marL="0">
              <a:buNone/>
            </a:pPr>
            <a:r>
              <a:rPr lang="ko-KR" sz="150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2025-05</a:t>
            </a:r>
            <a:endParaRPr lang="ko-KR" sz="1500" dirty="0" altLang="en-US"/>
          </a:p>
        </p:txBody>
      </p:sp>
      <p:sp>
        <p:nvSpPr>
          <p:cNvPr id="21" name="Text 14"/>
          <p:cNvSpPr txBox="1"/>
          <p:nvPr/>
        </p:nvSpPr>
        <p:spPr>
          <a:xfrm>
            <a:off x="6858000" y="4819802"/>
            <a:ext cx="3810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막았어야 할 게이트</a:t>
            </a:r>
            <a:endParaRPr lang="ko-KR" sz="1200" dirty="0" altLang="en-US"/>
          </a:p>
        </p:txBody>
      </p:sp>
      <p:sp>
        <p:nvSpPr>
          <p:cNvPr id="22" name="Text 15"/>
          <p:cNvSpPr txBox="1"/>
          <p:nvPr/>
        </p:nvSpPr>
        <p:spPr>
          <a:xfrm>
            <a:off x="6858000" y="5124298"/>
            <a:ext cx="9906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 게이트 </a:t>
            </a:r>
            <a:pPr algn="l" indent="0" marL="0">
              <a:buNone/>
            </a:pPr>
            <a:r>
              <a:rPr lang="ko-KR" sz="1650" b="1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주장 단위로 출처 대조</a:t>
            </a:r>
            <a:endParaRPr lang="ko-KR" sz="2400" dirty="0" altLang="en-US"/>
          </a:p>
        </p:txBody>
      </p:sp>
      <p:sp>
        <p:nvSpPr>
          <p:cNvPr id="23" name="Text 16"/>
          <p:cNvSpPr txBox="1"/>
          <p:nvPr/>
        </p:nvSpPr>
        <p:spPr>
          <a:xfrm>
            <a:off x="1447495" y="6172200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편집 책임 공백</a:t>
            </a:r>
            <a:endParaRPr lang="ko-KR" sz="2250" dirty="0" altLang="en-US"/>
          </a:p>
        </p:txBody>
      </p:sp>
      <p:sp>
        <p:nvSpPr>
          <p:cNvPr id="24" name="Text 17"/>
          <p:cNvSpPr txBox="1"/>
          <p:nvPr/>
        </p:nvSpPr>
        <p:spPr>
          <a:xfrm>
            <a:off x="1447495" y="6724498"/>
            <a:ext cx="509778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Sports Illustrated · AI 얼굴 가짜 약력 </a:t>
            </a:r>
            <a:pPr algn="l" indent="0" marL="0">
              <a:buNone/>
            </a:pPr>
            <a:r>
              <a:rPr lang="ko-KR" sz="150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2023-11</a:t>
            </a:r>
            <a:endParaRPr lang="ko-KR" sz="1500" dirty="0" altLang="en-US"/>
          </a:p>
        </p:txBody>
      </p:sp>
      <p:sp>
        <p:nvSpPr>
          <p:cNvPr id="25" name="Text 18"/>
          <p:cNvSpPr txBox="1"/>
          <p:nvPr/>
        </p:nvSpPr>
        <p:spPr>
          <a:xfrm>
            <a:off x="6858000" y="6267298"/>
            <a:ext cx="3810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막았어야 할 게이트</a:t>
            </a:r>
            <a:endParaRPr lang="ko-KR" sz="1200" dirty="0" altLang="en-US"/>
          </a:p>
        </p:txBody>
      </p:sp>
      <p:sp>
        <p:nvSpPr>
          <p:cNvPr id="26" name="Text 19"/>
          <p:cNvSpPr txBox="1"/>
          <p:nvPr/>
        </p:nvSpPr>
        <p:spPr>
          <a:xfrm>
            <a:off x="6858000" y="6572707"/>
            <a:ext cx="9906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승인 </a:t>
            </a:r>
            <a:pPr algn="l" indent="0" marL="0">
              <a:buNone/>
            </a:pPr>
            <a:r>
              <a:rPr lang="ko-KR" sz="1650" b="1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공급원과 무관하게 책임자가 서명</a:t>
            </a:r>
            <a:endParaRPr lang="ko-KR" sz="2400" dirty="0" altLang="en-US"/>
          </a:p>
        </p:txBody>
      </p:sp>
      <p:sp>
        <p:nvSpPr>
          <p:cNvPr id="27" name="Text 20"/>
          <p:cNvSpPr txBox="1"/>
          <p:nvPr/>
        </p:nvSpPr>
        <p:spPr>
          <a:xfrm>
            <a:off x="1447495" y="7619695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2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합의 없는 도입</a:t>
            </a:r>
            <a:endParaRPr lang="ko-KR" sz="2250" dirty="0" altLang="en-US"/>
          </a:p>
        </p:txBody>
      </p:sp>
      <p:sp>
        <p:nvSpPr>
          <p:cNvPr id="28" name="Text 21"/>
          <p:cNvSpPr txBox="1"/>
          <p:nvPr/>
        </p:nvSpPr>
        <p:spPr>
          <a:xfrm>
            <a:off x="1447495" y="8172907"/>
            <a:ext cx="457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Wikipedia AI 요약 시범 중단 </a:t>
            </a:r>
            <a:pPr algn="l" indent="0" marL="0">
              <a:buNone/>
            </a:pPr>
            <a:r>
              <a:rPr lang="ko-KR" sz="150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2025-06</a:t>
            </a:r>
            <a:endParaRPr lang="ko-KR" sz="1500" dirty="0" altLang="en-US"/>
          </a:p>
        </p:txBody>
      </p:sp>
      <p:sp>
        <p:nvSpPr>
          <p:cNvPr id="29" name="Text 22"/>
          <p:cNvSpPr txBox="1"/>
          <p:nvPr/>
        </p:nvSpPr>
        <p:spPr>
          <a:xfrm>
            <a:off x="6858000" y="7715707"/>
            <a:ext cx="3810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막았어야 할 게이트</a:t>
            </a:r>
            <a:endParaRPr lang="ko-KR" sz="1200" dirty="0" altLang="en-US"/>
          </a:p>
        </p:txBody>
      </p:sp>
      <p:sp>
        <p:nvSpPr>
          <p:cNvPr id="30" name="Text 23"/>
          <p:cNvSpPr txBox="1"/>
          <p:nvPr/>
        </p:nvSpPr>
        <p:spPr>
          <a:xfrm>
            <a:off x="6858000" y="8020202"/>
            <a:ext cx="9906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 결정 </a:t>
            </a:r>
            <a:pPr algn="l" indent="0" marL="0">
              <a:buNone/>
            </a:pPr>
            <a:r>
              <a:rPr lang="ko-KR" sz="1650" b="1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설계 단계에서 합의</a:t>
            </a:r>
            <a:endParaRPr lang="ko-KR" sz="2400" dirty="0" altLang="en-US"/>
          </a:p>
        </p:txBody>
      </p:sp>
      <p:sp>
        <p:nvSpPr>
          <p:cNvPr id="31" name="Text 24"/>
          <p:cNvSpPr txBox="1"/>
          <p:nvPr/>
        </p:nvSpPr>
        <p:spPr>
          <a:xfrm>
            <a:off x="1143000" y="9105595"/>
            <a:ext cx="14287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실패마다 막는 게이트가 다르다 — 사실 게이트의 몫은 ②뿐, 각 게이트가 맡을 실패를 좁게 정해 두자.</a:t>
            </a:r>
            <a:endParaRPr lang="ko-KR" sz="1800" dirty="0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200400"/>
            <a:ext cx="16002000" cy="19046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ae83e5199024e1b78c0a145cc796bae2.png">    </p:cNvPr>
          <p:cNvPicPr>
            <a:picLocks noChangeAspect="1"/>
          </p:cNvPicPr>
          <p:nvPr/>
        </p:nvPicPr>
        <p:blipFill>
          <a:blip r:embed="rId2"/>
          <a:srcRect l="-408" r="-408" t="0" b="0"/>
          <a:stretch/>
        </p:blipFill>
        <p:spPr>
          <a:xfrm>
            <a:off x="1143000" y="3200400"/>
            <a:ext cx="57607" cy="19046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143000" y="5257800"/>
            <a:ext cx="16002000" cy="190469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0f1ae992da13bc4adc0f7f01361185e4.png">    </p:cNvPr>
          <p:cNvPicPr>
            <a:picLocks noChangeAspect="1"/>
          </p:cNvPicPr>
          <p:nvPr/>
        </p:nvPicPr>
        <p:blipFill>
          <a:blip r:embed="rId3"/>
          <a:srcRect l="-408" r="-408" t="0" b="0"/>
          <a:stretch/>
        </p:blipFill>
        <p:spPr>
          <a:xfrm>
            <a:off x="1143000" y="5257800"/>
            <a:ext cx="57607" cy="190469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43000" y="7315200"/>
            <a:ext cx="16002000" cy="19046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ae83e5199024e1b78c0a145cc796bae2.png">    </p:cNvPr>
          <p:cNvPicPr>
            <a:picLocks noChangeAspect="1"/>
          </p:cNvPicPr>
          <p:nvPr/>
        </p:nvPicPr>
        <p:blipFill>
          <a:blip r:embed="rId4"/>
          <a:srcRect l="-408" r="-408" t="0" b="0"/>
          <a:stretch/>
        </p:blipFill>
        <p:spPr>
          <a:xfrm>
            <a:off x="1143000" y="7315200"/>
            <a:ext cx="57607" cy="190469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09 / 15</a:t>
            </a:r>
            <a:endParaRPr lang="ko-KR" sz="1350" dirty="0" altLang="en-US"/>
          </a:p>
        </p:txBody>
      </p:sp>
      <p:sp>
        <p:nvSpPr>
          <p:cNvPr id="10" name="Text 4"/>
          <p:cNvSpPr txBox="1"/>
          <p:nvPr/>
        </p:nvSpPr>
        <p:spPr>
          <a:xfrm>
            <a:off x="1143000" y="1238098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4장 · 사실 게이트의 원칙</a:t>
            </a:r>
            <a:endParaRPr lang="ko-KR" sz="1350" dirty="0" altLang="en-US"/>
          </a:p>
        </p:txBody>
      </p:sp>
      <p:sp>
        <p:nvSpPr>
          <p:cNvPr id="11" name="Text 5"/>
          <p:cNvSpPr txBox="1"/>
          <p:nvPr/>
        </p:nvSpPr>
        <p:spPr>
          <a:xfrm>
            <a:off x="1143000" y="1580998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5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원칙</a:t>
            </a:r>
            <a:endParaRPr lang="ko-KR" sz="4500" dirty="0" altLang="en-US"/>
          </a:p>
        </p:txBody>
      </p:sp>
      <p:sp>
        <p:nvSpPr>
          <p:cNvPr id="12" name="Text 6"/>
          <p:cNvSpPr txBox="1"/>
          <p:nvPr/>
        </p:nvSpPr>
        <p:spPr>
          <a:xfrm>
            <a:off x="1143000" y="2361895"/>
            <a:ext cx="14287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출력은 검증 전 </a:t>
            </a:r>
            <a:pPr algn="l" indent="0" marL="0">
              <a:buNone/>
            </a:pPr>
            <a:r>
              <a:rPr lang="ko-KR" sz="1800" b="1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원료</a:t>
            </a:r>
            <a:pPr algn="l" indent="0" marL="0"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사람을 거쳤어도 같은 원료다.</a:t>
            </a:r>
            <a:endParaRPr lang="ko-KR" sz="1800" dirty="0" altLang="en-US"/>
          </a:p>
        </p:txBody>
      </p:sp>
      <p:sp>
        <p:nvSpPr>
          <p:cNvPr id="13" name="Text 7"/>
          <p:cNvSpPr txBox="1"/>
          <p:nvPr/>
        </p:nvSpPr>
        <p:spPr>
          <a:xfrm>
            <a:off x="1524305" y="3409798"/>
            <a:ext cx="2286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PRINCIPLE 01</a:t>
            </a:r>
            <a:endParaRPr lang="ko-KR" sz="1350" dirty="0" altLang="en-US"/>
          </a:p>
        </p:txBody>
      </p:sp>
      <p:sp>
        <p:nvSpPr>
          <p:cNvPr id="14" name="Text 8"/>
          <p:cNvSpPr txBox="1"/>
          <p:nvPr/>
        </p:nvSpPr>
        <p:spPr>
          <a:xfrm>
            <a:off x="1524305" y="3733495"/>
            <a:ext cx="104781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1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원자 사실로 쪼개라.</a:t>
            </a:r>
            <a:endParaRPr lang="ko-KR" sz="3150" dirty="0" altLang="en-US"/>
          </a:p>
        </p:txBody>
      </p:sp>
      <p:sp>
        <p:nvSpPr>
          <p:cNvPr id="15" name="Text 9"/>
          <p:cNvSpPr txBox="1"/>
          <p:nvPr/>
        </p:nvSpPr>
        <p:spPr>
          <a:xfrm>
            <a:off x="1524305" y="4438498"/>
            <a:ext cx="15240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· 날짜 · 고유명 · 인용 · 링크 — 따로 확인할 수 있는 최소 주장으로 쪼개서 출처와 대조한다. 출처 목록이 없는 초안은 받지 않는다.</a:t>
            </a:r>
            <a:endParaRPr lang="ko-KR" sz="1650" dirty="0" altLang="en-US"/>
          </a:p>
        </p:txBody>
      </p:sp>
      <p:sp>
        <p:nvSpPr>
          <p:cNvPr id="16" name="Text 10"/>
          <p:cNvSpPr txBox="1"/>
          <p:nvPr/>
        </p:nvSpPr>
        <p:spPr>
          <a:xfrm>
            <a:off x="1524305" y="5467198"/>
            <a:ext cx="2286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PRINCIPLE 02</a:t>
            </a:r>
            <a:endParaRPr lang="ko-KR" sz="1350" dirty="0" altLang="en-US"/>
          </a:p>
        </p:txBody>
      </p:sp>
      <p:sp>
        <p:nvSpPr>
          <p:cNvPr id="17" name="Text 11"/>
          <p:cNvSpPr txBox="1"/>
          <p:nvPr/>
        </p:nvSpPr>
        <p:spPr>
          <a:xfrm>
            <a:off x="1524305" y="5790895"/>
            <a:ext cx="104781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1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모델에게 검산을 맡기지 마라.</a:t>
            </a:r>
            <a:endParaRPr lang="ko-KR" sz="3150" dirty="0" altLang="en-US"/>
          </a:p>
        </p:txBody>
      </p:sp>
      <p:sp>
        <p:nvSpPr>
          <p:cNvPr id="18" name="Text 12"/>
          <p:cNvSpPr txBox="1"/>
          <p:nvPr/>
        </p:nvSpPr>
        <p:spPr>
          <a:xfrm>
            <a:off x="1524305" y="6495898"/>
            <a:ext cx="15240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근거 · 별도 판정 역할 · 사람 표본 확인이라는 바깥 수단을 둔다. 표본에서는 거짓 양성 — 잘못 걸린 초안 — 도 센다.</a:t>
            </a:r>
            <a:endParaRPr lang="ko-KR" sz="1650" dirty="0" altLang="en-US"/>
          </a:p>
        </p:txBody>
      </p:sp>
      <p:sp>
        <p:nvSpPr>
          <p:cNvPr id="19" name="Text 13"/>
          <p:cNvSpPr txBox="1"/>
          <p:nvPr/>
        </p:nvSpPr>
        <p:spPr>
          <a:xfrm>
            <a:off x="1524305" y="7524598"/>
            <a:ext cx="2286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PRINCIPLE 03</a:t>
            </a:r>
            <a:endParaRPr lang="ko-KR" sz="1350" dirty="0" altLang="en-US"/>
          </a:p>
        </p:txBody>
      </p:sp>
      <p:sp>
        <p:nvSpPr>
          <p:cNvPr id="20" name="Text 14"/>
          <p:cNvSpPr txBox="1"/>
          <p:nvPr/>
        </p:nvSpPr>
        <p:spPr>
          <a:xfrm>
            <a:off x="1524305" y="7848295"/>
            <a:ext cx="11234318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1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기록이 없으면 — 발행 함수가 실행되지 않게.</a:t>
            </a:r>
            <a:endParaRPr lang="ko-KR" sz="3150" dirty="0" altLang="en-US"/>
          </a:p>
        </p:txBody>
      </p:sp>
      <p:sp>
        <p:nvSpPr>
          <p:cNvPr id="21" name="Text 15"/>
          <p:cNvSpPr txBox="1"/>
          <p:nvPr/>
        </p:nvSpPr>
        <p:spPr>
          <a:xfrm>
            <a:off x="1524305" y="8553298"/>
            <a:ext cx="15240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지시문이 아니라 발행 함수의 실행 조건으로 둔다 — 판정 값은 </a:t>
            </a:r>
            <a:pPr algn="l" indent="0" marL="0">
              <a:buNone/>
            </a:pPr>
            <a:r>
              <a:rPr lang="ko-KR" sz="1650" b="1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확인됨 · 출처와 다름 · 근거를 찾지 못함 · 시점이 지남</a:t>
            </a:r>
            <a:pPr algn="l" indent="0" marL="0"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네 가지로 고정.</a:t>
            </a:r>
            <a:endParaRPr lang="ko-KR" sz="1650" dirty="0" altLang="en-US"/>
          </a:p>
        </p:txBody>
      </p:sp>
      <p:sp>
        <p:nvSpPr>
          <p:cNvPr id="22" name="Text 16"/>
          <p:cNvSpPr txBox="1"/>
          <p:nvPr/>
        </p:nvSpPr>
        <p:spPr>
          <a:xfrm>
            <a:off x="1143000" y="9486900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"출처와 다름"이 하나라도 있으면 발행 단계로 넘어가지 않는다 · CNET 2023-01 사례에서 확인된 것 — 사람 검토를 거쳤어도 오류는 발행됐다</a:t>
            </a:r>
            <a:endParaRPr lang="ko-KR" sz="1350" dirty="0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pic>
        <p:nvPicPr>
          <p:cNvPr id="3" name="Image 1" descr="gen-dedup-fd0e519473123b36c18055cc2987d24d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8801100" y="2667305"/>
            <a:ext cx="9144" cy="6476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5790895"/>
            <a:ext cx="7239305" cy="1143000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43000" y="7086600"/>
            <a:ext cx="7239305" cy="1143000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296705" y="4209898"/>
            <a:ext cx="7848295" cy="685800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96705" y="6191250"/>
            <a:ext cx="7886700" cy="3048000"/>
          </a:xfrm>
          <a:prstGeom prst="rect">
            <a:avLst/>
          </a:prstGeom>
          <a:solidFill>
            <a:srgbClr val="ECDFC5"/>
          </a:solidFill>
          <a:ln/>
        </p:spPr>
      </p:sp>
      <p:sp>
        <p:nvSpPr>
          <p:cNvPr id="8" name="Shape 4"/>
          <p:cNvSpPr/>
          <p:nvPr/>
        </p:nvSpPr>
        <p:spPr>
          <a:xfrm>
            <a:off x="9296705" y="6191250"/>
            <a:ext cx="38405" cy="3048000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10 / 15</a:t>
            </a:r>
            <a:endParaRPr lang="ko-KR" sz="1350" dirty="0" altLang="en-US"/>
          </a:p>
        </p:txBody>
      </p:sp>
      <p:sp>
        <p:nvSpPr>
          <p:cNvPr id="10" name="Text 6"/>
          <p:cNvSpPr txBox="1"/>
          <p:nvPr/>
        </p:nvSpPr>
        <p:spPr>
          <a:xfrm>
            <a:off x="1143000" y="1238098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5장 · 6장 — 다듬되 밝힌다</a:t>
            </a:r>
            <a:endParaRPr lang="ko-KR" sz="1350" dirty="0" altLang="en-US"/>
          </a:p>
        </p:txBody>
      </p:sp>
      <p:sp>
        <p:nvSpPr>
          <p:cNvPr id="11" name="Text 7"/>
          <p:cNvSpPr txBox="1"/>
          <p:nvPr/>
        </p:nvSpPr>
        <p:spPr>
          <a:xfrm>
            <a:off x="1143000" y="1580998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5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문체 기준 · AI 사용 표기</a:t>
            </a:r>
            <a:endParaRPr lang="ko-KR" sz="4500" dirty="0" altLang="en-US"/>
          </a:p>
        </p:txBody>
      </p:sp>
      <p:sp>
        <p:nvSpPr>
          <p:cNvPr id="12" name="Text 8"/>
          <p:cNvSpPr txBox="1"/>
          <p:nvPr/>
        </p:nvSpPr>
        <p:spPr>
          <a:xfrm>
            <a:off x="1143000" y="2743200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CH · 05 · 문체 기준</a:t>
            </a:r>
            <a:endParaRPr lang="ko-KR" sz="1350" dirty="0" altLang="en-US"/>
          </a:p>
        </p:txBody>
      </p:sp>
      <p:sp>
        <p:nvSpPr>
          <p:cNvPr id="13" name="Text 9"/>
          <p:cNvSpPr txBox="1"/>
          <p:nvPr/>
        </p:nvSpPr>
        <p:spPr>
          <a:xfrm>
            <a:off x="1143000" y="3066898"/>
            <a:ext cx="72393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sz="34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독자가 막히는 곳을</a:t>
            </a:r>
            <a:pPr algn="l" indent="0" marL="0">
              <a:lnSpc>
                <a:spcPct val="126000"/>
              </a:lnSpc>
              <a:buNone/>
            </a:pPr>
            <a:endParaRPr lang="ko-KR" sz="3450" dirty="0" altLang="en-US"/>
          </a:p>
          <a:p>
            <a:pPr algn="l" indent="0" marL="0">
              <a:lnSpc>
                <a:spcPct val="126000"/>
              </a:lnSpc>
              <a:buNone/>
            </a:pPr>
            <a:r>
              <a:rPr lang="ko-KR" sz="34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일이다.</a:t>
            </a:r>
            <a:endParaRPr lang="ko-KR" sz="3450" dirty="0" altLang="en-US"/>
          </a:p>
        </p:txBody>
      </p:sp>
      <p:sp>
        <p:nvSpPr>
          <p:cNvPr id="14" name="Text 10"/>
          <p:cNvSpPr txBox="1"/>
          <p:nvPr/>
        </p:nvSpPr>
        <p:spPr>
          <a:xfrm>
            <a:off x="1143000" y="4661611"/>
            <a:ext cx="723930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"들키지 않는가"가 기준이면,</a:t>
            </a:r>
            <a:pPr algn="l" indent="0" marL="0">
              <a:lnSpc>
                <a:spcPts val="2850"/>
              </a:lnSpc>
              <a:buNone/>
            </a:pPr>
            <a:endParaRPr lang="ko-KR" sz="1800" dirty="0" altLang="en-US"/>
          </a:p>
          <a:p>
            <a:pPr algn="l" indent="0" marL="0">
              <a:lnSpc>
                <a:spcPts val="2850"/>
              </a:lnSpc>
              <a:buNone/>
            </a:pPr>
            <a:r>
              <a:rPr lang="ko-KR" sz="18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독자를 속이는 데 맞춰진다.</a:t>
            </a:r>
            <a:endParaRPr lang="ko-KR" sz="1800" dirty="0" altLang="en-US"/>
          </a:p>
        </p:txBody>
      </p:sp>
      <p:sp>
        <p:nvSpPr>
          <p:cNvPr id="15" name="Text 11"/>
          <p:cNvSpPr txBox="1"/>
          <p:nvPr/>
        </p:nvSpPr>
        <p:spPr>
          <a:xfrm>
            <a:off x="1447495" y="5962802"/>
            <a:ext cx="6667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9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점수는 기준에서 뺀다</a:t>
            </a:r>
            <a:endParaRPr lang="ko-KR" sz="1950" dirty="0" altLang="en-US"/>
          </a:p>
        </p:txBody>
      </p:sp>
      <p:sp>
        <p:nvSpPr>
          <p:cNvPr id="16" name="Text 12"/>
          <p:cNvSpPr txBox="1"/>
          <p:nvPr/>
        </p:nvSpPr>
        <p:spPr>
          <a:xfrm>
            <a:off x="1447495" y="6400800"/>
            <a:ext cx="6667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7종 평균 오탐률 61.22% </a:t>
            </a:r>
            <a:pPr algn="l" indent="0" marL="0">
              <a:buNone/>
            </a:pPr>
            <a:r>
              <a:rPr lang="ko-KR" sz="135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Liang 외 2023 · TOEFL 91편</a:t>
            </a:r>
            <a:endParaRPr lang="ko-KR" sz="1350" dirty="0" altLang="en-US"/>
          </a:p>
        </p:txBody>
      </p:sp>
      <p:sp>
        <p:nvSpPr>
          <p:cNvPr id="17" name="Text 13"/>
          <p:cNvSpPr txBox="1"/>
          <p:nvPr/>
        </p:nvSpPr>
        <p:spPr>
          <a:xfrm>
            <a:off x="1447495" y="7258507"/>
            <a:ext cx="6667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95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Jev 0.6 — 보정 검증 전 운영 문턱일 뿐</a:t>
            </a:r>
            <a:endParaRPr lang="ko-KR" sz="1950" dirty="0" altLang="en-US"/>
          </a:p>
        </p:txBody>
      </p:sp>
      <p:sp>
        <p:nvSpPr>
          <p:cNvPr id="18" name="Text 14"/>
          <p:cNvSpPr txBox="1"/>
          <p:nvPr/>
        </p:nvSpPr>
        <p:spPr>
          <a:xfrm>
            <a:off x="1447495" y="7696505"/>
            <a:ext cx="6667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규칙 · 판정 모델 · 사람 — 서로 다른 것을 잡는다</a:t>
            </a:r>
            <a:endParaRPr lang="ko-KR" sz="1350" dirty="0" altLang="en-US"/>
          </a:p>
        </p:txBody>
      </p:sp>
      <p:sp>
        <p:nvSpPr>
          <p:cNvPr id="19" name="Text 15"/>
          <p:cNvSpPr txBox="1"/>
          <p:nvPr/>
        </p:nvSpPr>
        <p:spPr>
          <a:xfrm>
            <a:off x="1143000" y="8466430"/>
            <a:ext cx="7239305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"AI가 쓴 줄 모르게 하기"는 목표가 아니다.</a:t>
            </a:r>
            <a:pPr algn="l" indent="0" marL="0">
              <a:lnSpc>
                <a:spcPts val="210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5B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문단에서 무엇을 얻는지, 같은 말을 두 번 읽는지 — 독자 쪽에 둔다.</a:t>
            </a:r>
            <a:endParaRPr lang="ko-KR" sz="1350" dirty="0" altLang="en-US"/>
          </a:p>
        </p:txBody>
      </p:sp>
      <p:sp>
        <p:nvSpPr>
          <p:cNvPr id="20" name="Text 16"/>
          <p:cNvSpPr txBox="1"/>
          <p:nvPr/>
        </p:nvSpPr>
        <p:spPr>
          <a:xfrm>
            <a:off x="9296705" y="2743200"/>
            <a:ext cx="7810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CH · 06 · AI 사용 표기</a:t>
            </a:r>
            <a:endParaRPr lang="ko-KR" sz="1350" dirty="0" altLang="en-US"/>
          </a:p>
        </p:txBody>
      </p:sp>
      <p:sp>
        <p:nvSpPr>
          <p:cNvPr id="21" name="Text 17"/>
          <p:cNvSpPr txBox="1"/>
          <p:nvPr/>
        </p:nvSpPr>
        <p:spPr>
          <a:xfrm>
            <a:off x="9296705" y="3066898"/>
            <a:ext cx="7810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4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누가 확인, 누가 책임.</a:t>
            </a:r>
            <a:endParaRPr lang="ko-KR" sz="3450" dirty="0" altLang="en-US"/>
          </a:p>
        </p:txBody>
      </p:sp>
      <p:sp>
        <p:nvSpPr>
          <p:cNvPr id="22" name="Text 18"/>
          <p:cNvSpPr txBox="1"/>
          <p:nvPr/>
        </p:nvSpPr>
        <p:spPr>
          <a:xfrm>
            <a:off x="9601200" y="4438498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8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AI가 했고 · </a:t>
            </a:r>
            <a:pPr algn="l" indent="0" marL="0">
              <a:buNone/>
            </a:pPr>
            <a:r>
              <a:rPr lang="ko-KR" sz="1800" dirty="0" altLang="en-US">
                <a:solidFill>
                  <a:srgbClr val="C97C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pPr algn="l" indent="0" marL="0">
              <a:buNone/>
            </a:pPr>
            <a:r>
              <a:rPr lang="ko-KR" sz="18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확인했고 · 누가 책임지는가</a:t>
            </a:r>
            <a:endParaRPr lang="ko-KR" sz="1800" dirty="0" altLang="en-US"/>
          </a:p>
        </p:txBody>
      </p:sp>
      <p:sp>
        <p:nvSpPr>
          <p:cNvPr id="23" name="Text 19"/>
          <p:cNvSpPr txBox="1"/>
          <p:nvPr/>
        </p:nvSpPr>
        <p:spPr>
          <a:xfrm>
            <a:off x="9296705" y="5086807"/>
            <a:ext cx="7849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ko-KR" sz="1425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 제50조 제4항과 한국 AI 기본법 제31조는 요구가 다르다. 법령 · 정부 해설 · 플랫폼 정책 · 개인 기준은 같은 표에 놓여도 효력이 다르다.</a:t>
            </a:r>
            <a:endParaRPr lang="ko-KR" sz="1425" dirty="0" altLang="en-US"/>
          </a:p>
        </p:txBody>
      </p:sp>
      <p:sp>
        <p:nvSpPr>
          <p:cNvPr id="24" name="Text 20"/>
          <p:cNvSpPr txBox="1"/>
          <p:nvPr/>
        </p:nvSpPr>
        <p:spPr>
          <a:xfrm>
            <a:off x="9296705" y="5857875"/>
            <a:ext cx="7810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DEVOTEE 표기 초안</a:t>
            </a:r>
            <a:endParaRPr lang="ko-KR" sz="1350" dirty="0" altLang="en-US"/>
          </a:p>
        </p:txBody>
      </p:sp>
      <p:sp>
        <p:nvSpPr>
          <p:cNvPr id="25" name="Text 21"/>
          <p:cNvSpPr txBox="1"/>
          <p:nvPr/>
        </p:nvSpPr>
        <p:spPr>
          <a:xfrm>
            <a:off x="9620402" y="6362700"/>
            <a:ext cx="723930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50"/>
              </a:lnSpc>
              <a:buNone/>
            </a:pPr>
            <a:r>
              <a:rPr lang="ko-KR" sz="15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글은 DEVOCEAN의 AI 에이전트 DEVOTEE가 그날 공개된 기술 소식을 모아 썼습니다. 문장은 AI 문형 점검 루틴과 판정 모델로 점검했고, 기준에 못 미친 초안은 최대 두 번 다시 썼습니다. 사실 확인 모델이나 사람의 사전 검토는 거치지 않았습니다. 사례마다 원문 링크를 달았으니 직접 확인해 주세요. 틀린 곳은 댓글로 알려 주시면 고치고 정정 이력을 남깁니다.</a:t>
            </a:r>
            <a:endParaRPr lang="ko-KR" sz="1650" dirty="0" altLang="en-US"/>
          </a:p>
        </p:txBody>
      </p:sp>
      <p:sp>
        <p:nvSpPr>
          <p:cNvPr id="26" name="Text 22"/>
          <p:cNvSpPr txBox="1"/>
          <p:nvPr/>
        </p:nvSpPr>
        <p:spPr>
          <a:xfrm>
            <a:off x="9620402" y="8801100"/>
            <a:ext cx="7239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b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 책임: {이름 또는 팀}</a:t>
            </a:r>
            <a:endParaRPr lang="ko-KR" sz="1650" dirty="0" altLang="en-US"/>
          </a:p>
        </p:txBody>
      </p:sp>
      <p:sp>
        <p:nvSpPr>
          <p:cNvPr id="27" name="Text 23"/>
          <p:cNvSpPr txBox="1"/>
          <p:nvPr/>
        </p:nvSpPr>
        <p:spPr>
          <a:xfrm>
            <a:off x="1143000" y="9810750"/>
            <a:ext cx="16193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"사람의 사전 검토는 거치지 않았습니다"는 운영자가 지면에 적기 꺼리는 문장이다 — 적기 어렵다면 발행 전 검토를 추가할지부터 다시 보자.</a:t>
            </a:r>
            <a:endParaRPr lang="ko-KR" sz="1200" dirty="0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047695"/>
            <a:ext cx="5143500" cy="2857500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d1c77c892c8f6a545cb4f89abfb77e22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6286500" y="4419295"/>
            <a:ext cx="571500" cy="1920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8000" y="3047695"/>
            <a:ext cx="5143500" cy="2857500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d1c77c892c8f6a545cb4f89abfb77e22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2001500" y="4419295"/>
            <a:ext cx="571500" cy="192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573000" y="3047695"/>
            <a:ext cx="4572000" cy="2857500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3906195" y="6248095"/>
            <a:ext cx="3238805" cy="2695651"/>
          </a:xfrm>
          <a:prstGeom prst="rect">
            <a:avLst/>
          </a:prstGeom>
          <a:solidFill>
            <a:srgbClr val="ECDFC5"/>
          </a:solidFill>
          <a:ln/>
        </p:spPr>
      </p:sp>
      <p:sp>
        <p:nvSpPr>
          <p:cNvPr id="9" name="Shape 4"/>
          <p:cNvSpPr/>
          <p:nvPr/>
        </p:nvSpPr>
        <p:spPr>
          <a:xfrm>
            <a:off x="13906195" y="6248095"/>
            <a:ext cx="3238805" cy="28346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11 / 15</a:t>
            </a:r>
            <a:endParaRPr lang="ko-KR" sz="1350" dirty="0" altLang="en-US"/>
          </a:p>
        </p:txBody>
      </p:sp>
      <p:sp>
        <p:nvSpPr>
          <p:cNvPr id="11" name="Text 6"/>
          <p:cNvSpPr txBox="1"/>
          <p:nvPr/>
        </p:nvSpPr>
        <p:spPr>
          <a:xfrm>
            <a:off x="1143000" y="1238098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7장 · 편당 게이트가 못 보는 것</a:t>
            </a:r>
            <a:endParaRPr lang="ko-KR" sz="1350" dirty="0" altLang="en-US"/>
          </a:p>
        </p:txBody>
      </p:sp>
      <p:sp>
        <p:nvSpPr>
          <p:cNvPr id="12" name="Text 7"/>
          <p:cNvSpPr txBox="1"/>
          <p:nvPr/>
        </p:nvSpPr>
        <p:spPr>
          <a:xfrm>
            <a:off x="1143000" y="1580998"/>
            <a:ext cx="1428750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2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 검사는 세 번 한다</a:t>
            </a:r>
            <a:endParaRPr lang="ko-KR" sz="4200" dirty="0" altLang="en-US"/>
          </a:p>
        </p:txBody>
      </p:sp>
      <p:sp>
        <p:nvSpPr>
          <p:cNvPr id="13" name="Text 8"/>
          <p:cNvSpPr txBox="1"/>
          <p:nvPr/>
        </p:nvSpPr>
        <p:spPr>
          <a:xfrm>
            <a:off x="1143000" y="2361895"/>
            <a:ext cx="14287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"글 한 편을 만드는 비용은 0으로 수렴했는데 정리 비용은 그대로" — 발행을 늘릴수록 더 무거워진다.</a:t>
            </a:r>
            <a:endParaRPr lang="ko-KR" sz="1650" dirty="0" altLang="en-US"/>
          </a:p>
        </p:txBody>
      </p:sp>
      <p:sp>
        <p:nvSpPr>
          <p:cNvPr id="14" name="Text 9"/>
          <p:cNvSpPr txBox="1"/>
          <p:nvPr/>
        </p:nvSpPr>
        <p:spPr>
          <a:xfrm>
            <a:off x="1447495" y="3276295"/>
            <a:ext cx="4572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CHECKPOINT 01</a:t>
            </a:r>
            <a:endParaRPr lang="ko-KR" sz="1200" dirty="0" altLang="en-US"/>
          </a:p>
        </p:txBody>
      </p:sp>
      <p:sp>
        <p:nvSpPr>
          <p:cNvPr id="15" name="Text 10"/>
          <p:cNvSpPr txBox="1"/>
          <p:nvPr/>
        </p:nvSpPr>
        <p:spPr>
          <a:xfrm>
            <a:off x="1447495" y="3562502"/>
            <a:ext cx="4572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8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글감 등록</a:t>
            </a:r>
            <a:endParaRPr lang="ko-KR" sz="2850" dirty="0" altLang="en-US"/>
          </a:p>
        </p:txBody>
      </p:sp>
      <p:sp>
        <p:nvSpPr>
          <p:cNvPr id="16" name="Text 11"/>
          <p:cNvSpPr txBox="1"/>
          <p:nvPr/>
        </p:nvSpPr>
        <p:spPr>
          <a:xfrm>
            <a:off x="1447495" y="4134002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같은 질문에 답하는 글이 있는지 먼저 본다.</a:t>
            </a:r>
            <a:pPr algn="l" indent="0" marL="0">
              <a:lnSpc>
                <a:spcPts val="2400"/>
              </a:lnSpc>
              <a:buNone/>
            </a:pPr>
            <a:endParaRPr lang="ko-KR" sz="1500" dirty="0" altLang="en-US"/>
          </a:p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키워드로 다른 질문에 답하는 글도 많아</a:t>
            </a:r>
            <a:pPr algn="l" indent="0" marL="0">
              <a:lnSpc>
                <a:spcPts val="2400"/>
              </a:lnSpc>
              <a:buNone/>
            </a:pPr>
            <a:endParaRPr lang="ko-KR" sz="1500" dirty="0" altLang="en-US"/>
          </a:p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단계는 막지 않고 경고만 한다.</a:t>
            </a:r>
            <a:endParaRPr lang="ko-KR" sz="1500" dirty="0" altLang="en-US"/>
          </a:p>
        </p:txBody>
      </p:sp>
      <p:sp>
        <p:nvSpPr>
          <p:cNvPr id="17" name="Text 12"/>
          <p:cNvSpPr txBox="1"/>
          <p:nvPr/>
        </p:nvSpPr>
        <p:spPr>
          <a:xfrm>
            <a:off x="1447495" y="5333695"/>
            <a:ext cx="457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150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결과 — 경고</a:t>
            </a:r>
            <a:endParaRPr lang="ko-KR" sz="1200" dirty="0" altLang="en-US"/>
          </a:p>
        </p:txBody>
      </p:sp>
      <p:sp>
        <p:nvSpPr>
          <p:cNvPr id="18" name="Text 13"/>
          <p:cNvSpPr txBox="1"/>
          <p:nvPr/>
        </p:nvSpPr>
        <p:spPr>
          <a:xfrm>
            <a:off x="7162495" y="3276295"/>
            <a:ext cx="4572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CHECKPOINT 02</a:t>
            </a:r>
            <a:endParaRPr lang="ko-KR" sz="1200" dirty="0" altLang="en-US"/>
          </a:p>
        </p:txBody>
      </p:sp>
      <p:sp>
        <p:nvSpPr>
          <p:cNvPr id="19" name="Text 14"/>
          <p:cNvSpPr txBox="1"/>
          <p:nvPr/>
        </p:nvSpPr>
        <p:spPr>
          <a:xfrm>
            <a:off x="7162495" y="3562502"/>
            <a:ext cx="4572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8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직전</a:t>
            </a:r>
            <a:endParaRPr lang="ko-KR" sz="2850" dirty="0" altLang="en-US"/>
          </a:p>
        </p:txBody>
      </p:sp>
      <p:sp>
        <p:nvSpPr>
          <p:cNvPr id="20" name="Text 15"/>
          <p:cNvSpPr txBox="1"/>
          <p:nvPr/>
        </p:nvSpPr>
        <p:spPr>
          <a:xfrm>
            <a:off x="7162495" y="4134002"/>
            <a:ext cx="4572000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초안과 쌓인 글을 다시 견준다.</a:t>
            </a:r>
            <a:pPr algn="l" indent="0" marL="0">
              <a:lnSpc>
                <a:spcPts val="2400"/>
              </a:lnSpc>
              <a:buNone/>
            </a:pPr>
            <a:endParaRPr lang="ko-KR" sz="1500" dirty="0" altLang="en-US"/>
          </a:p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본문으로 더 정확히 잴 수 있어</a:t>
            </a:r>
            <a:pPr algn="l" indent="0" marL="0">
              <a:lnSpc>
                <a:spcPts val="2400"/>
              </a:lnSpc>
              <a:buNone/>
            </a:pPr>
            <a:endParaRPr lang="ko-KR" sz="1500" dirty="0" altLang="en-US"/>
          </a:p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차단할 근거가 생긴다.</a:t>
            </a:r>
            <a:endParaRPr lang="ko-KR" sz="1500" dirty="0" altLang="en-US"/>
          </a:p>
        </p:txBody>
      </p:sp>
      <p:sp>
        <p:nvSpPr>
          <p:cNvPr id="21" name="Text 16"/>
          <p:cNvSpPr txBox="1"/>
          <p:nvPr/>
        </p:nvSpPr>
        <p:spPr>
          <a:xfrm>
            <a:off x="7162495" y="5333695"/>
            <a:ext cx="457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150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결과 — 차단</a:t>
            </a:r>
            <a:endParaRPr lang="ko-KR" sz="1200" dirty="0" altLang="en-US"/>
          </a:p>
        </p:txBody>
      </p:sp>
      <p:sp>
        <p:nvSpPr>
          <p:cNvPr id="22" name="Text 17"/>
          <p:cNvSpPr txBox="1"/>
          <p:nvPr/>
        </p:nvSpPr>
        <p:spPr>
          <a:xfrm>
            <a:off x="12877495" y="3276295"/>
            <a:ext cx="4000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CHECKPOINT 03</a:t>
            </a:r>
            <a:endParaRPr lang="ko-KR" sz="1200" dirty="0" altLang="en-US"/>
          </a:p>
        </p:txBody>
      </p:sp>
      <p:sp>
        <p:nvSpPr>
          <p:cNvPr id="23" name="Text 18"/>
          <p:cNvSpPr txBox="1"/>
          <p:nvPr/>
        </p:nvSpPr>
        <p:spPr>
          <a:xfrm>
            <a:off x="12877495" y="3562502"/>
            <a:ext cx="4000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8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감사</a:t>
            </a:r>
            <a:endParaRPr lang="ko-KR" sz="2850" dirty="0" altLang="en-US"/>
          </a:p>
        </p:txBody>
      </p:sp>
      <p:sp>
        <p:nvSpPr>
          <p:cNvPr id="24" name="Text 19"/>
          <p:cNvSpPr txBox="1"/>
          <p:nvPr/>
        </p:nvSpPr>
        <p:spPr>
          <a:xfrm>
            <a:off x="12877495" y="4134002"/>
            <a:ext cx="4000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글끼리의 관계 · 시간이 지나</a:t>
            </a:r>
            <a:pPr algn="l" indent="0" marL="0">
              <a:lnSpc>
                <a:spcPts val="2400"/>
              </a:lnSpc>
              <a:buNone/>
            </a:pPr>
            <a:endParaRPr lang="ko-KR" sz="1500" dirty="0" altLang="en-US"/>
          </a:p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낡은 글을 주기적으로 본다.</a:t>
            </a:r>
            <a:endParaRPr lang="ko-KR" sz="1500" dirty="0" altLang="en-US"/>
          </a:p>
        </p:txBody>
      </p:sp>
      <p:sp>
        <p:nvSpPr>
          <p:cNvPr id="25" name="Text 20"/>
          <p:cNvSpPr txBox="1"/>
          <p:nvPr/>
        </p:nvSpPr>
        <p:spPr>
          <a:xfrm>
            <a:off x="12877495" y="5333695"/>
            <a:ext cx="400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150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결과 — 수정 · 통합 · 내림</a:t>
            </a:r>
            <a:endParaRPr lang="ko-KR" sz="1200" dirty="0" altLang="en-US"/>
          </a:p>
        </p:txBody>
      </p:sp>
      <p:sp>
        <p:nvSpPr>
          <p:cNvPr id="26" name="Text 21"/>
          <p:cNvSpPr txBox="1"/>
          <p:nvPr/>
        </p:nvSpPr>
        <p:spPr>
          <a:xfrm>
            <a:off x="1143000" y="6248095"/>
            <a:ext cx="9906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1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단계가 경고에 그치는 이유</a:t>
            </a:r>
            <a:endParaRPr lang="ko-KR" sz="2100" dirty="0" altLang="en-US"/>
          </a:p>
        </p:txBody>
      </p:sp>
      <p:sp>
        <p:nvSpPr>
          <p:cNvPr id="27" name="Text 22"/>
          <p:cNvSpPr txBox="1"/>
          <p:nvPr/>
        </p:nvSpPr>
        <p:spPr>
          <a:xfrm>
            <a:off x="1143000" y="6668719"/>
            <a:ext cx="12192610" cy="1008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글감 단계에는 주제 한 줄뿐이다 — 같은 키워드로 다른 질문에 답하는 글도 많다.</a:t>
            </a:r>
            <a:pPr algn="l" indent="0" marL="0">
              <a:lnSpc>
                <a:spcPts val="2550"/>
              </a:lnSpc>
              <a:buNone/>
            </a:pPr>
            <a:endParaRPr lang="ko-KR" sz="1650" dirty="0" altLang="en-US"/>
          </a:p>
          <a:p>
            <a:pPr algn="l" indent="0" marL="0">
              <a:lnSpc>
                <a:spcPts val="2550"/>
              </a:lnSpc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막으면 쓸 만한 글감까지 버리기 쉽고, 경고는 판단이 틀려도 잃는 것이 거의 없다.</a:t>
            </a:r>
            <a:pPr algn="l" indent="0" marL="0">
              <a:lnSpc>
                <a:spcPts val="2550"/>
              </a:lnSpc>
              <a:buNone/>
            </a:pPr>
            <a:endParaRPr lang="ko-KR" sz="1650" dirty="0" altLang="en-US"/>
          </a:p>
          <a:p>
            <a:pPr algn="l" indent="0" marL="0">
              <a:lnSpc>
                <a:spcPts val="2550"/>
              </a:lnSpc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직전에 본문으로 더 정확히 잰 뒤 차단할 근거가 생긴다.</a:t>
            </a:r>
            <a:endParaRPr lang="ko-KR" sz="1650" dirty="0" altLang="en-US"/>
          </a:p>
        </p:txBody>
      </p:sp>
      <p:sp>
        <p:nvSpPr>
          <p:cNvPr id="28" name="Text 23"/>
          <p:cNvSpPr txBox="1"/>
          <p:nvPr/>
        </p:nvSpPr>
        <p:spPr>
          <a:xfrm>
            <a:off x="14134795" y="6476695"/>
            <a:ext cx="28200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050" i="1" spc="150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2만 2천 페이지 사례</a:t>
            </a:r>
            <a:endParaRPr lang="ko-KR" sz="1050" dirty="0" altLang="en-US"/>
          </a:p>
        </p:txBody>
      </p:sp>
      <p:sp>
        <p:nvSpPr>
          <p:cNvPr id="29" name="Text 24"/>
          <p:cNvSpPr txBox="1"/>
          <p:nvPr/>
        </p:nvSpPr>
        <p:spPr>
          <a:xfrm>
            <a:off x="14134795" y="6705295"/>
            <a:ext cx="28200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800" b="1" i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 0으로</a:t>
            </a:r>
            <a:endParaRPr lang="ko-KR" sz="1800" dirty="0" altLang="en-US"/>
          </a:p>
        </p:txBody>
      </p:sp>
      <p:sp>
        <p:nvSpPr>
          <p:cNvPr id="30" name="Text 25"/>
          <p:cNvSpPr txBox="1"/>
          <p:nvPr/>
        </p:nvSpPr>
        <p:spPr>
          <a:xfrm>
            <a:off x="14134795" y="7658100"/>
            <a:ext cx="28200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ko-KR" sz="1125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Tailride 회고 ·</a:t>
            </a:r>
            <a:pPr algn="l" indent="0" marL="0">
              <a:lnSpc>
                <a:spcPts val="1650"/>
              </a:lnSpc>
              <a:buNone/>
            </a:pPr>
            <a:endParaRPr lang="ko-KR" sz="1125" dirty="0" altLang="en-US"/>
          </a:p>
          <a:p>
            <a:pPr algn="l" indent="0" marL="0">
              <a:lnSpc>
                <a:spcPts val="1650"/>
              </a:lnSpc>
              <a:buNone/>
            </a:pPr>
            <a:r>
              <a:rPr lang="ko-KR" sz="1125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2025-02-28 검색 유입 0</a:t>
            </a:r>
            <a:endParaRPr lang="ko-KR" sz="1125" dirty="0" altLang="en-US"/>
          </a:p>
        </p:txBody>
      </p:sp>
      <p:sp>
        <p:nvSpPr>
          <p:cNvPr id="31" name="Text 26"/>
          <p:cNvSpPr txBox="1"/>
          <p:nvPr/>
        </p:nvSpPr>
        <p:spPr>
          <a:xfrm>
            <a:off x="1143000" y="9105595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"같은 질문"은 키워드가 아니라 글이 답하는 한 문장을 기준으로 견준다 · 편당 게이트와 목록 검사는 보는 단위가 다르다 — 분담이 핵심</a:t>
            </a:r>
            <a:endParaRPr lang="ko-KR" sz="1350" dirty="0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1580998"/>
            <a:ext cx="8382305" cy="163860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905695" y="1580998"/>
            <a:ext cx="7267651" cy="1638605"/>
          </a:xfrm>
          <a:prstGeom prst="rect">
            <a:avLst/>
          </a:prstGeom>
          <a:solidFill>
            <a:srgbClr val="ECDFC5"/>
          </a:solidFill>
          <a:ln/>
        </p:spPr>
      </p:sp>
      <p:sp>
        <p:nvSpPr>
          <p:cNvPr id="5" name="Shape 2"/>
          <p:cNvSpPr/>
          <p:nvPr/>
        </p:nvSpPr>
        <p:spPr>
          <a:xfrm>
            <a:off x="9905695" y="1580998"/>
            <a:ext cx="28346" cy="1638605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3962095"/>
            <a:ext cx="5143500" cy="19046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72707" y="3962095"/>
            <a:ext cx="5143500" cy="19046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0" y="3962095"/>
            <a:ext cx="5143500" cy="19046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6057900"/>
            <a:ext cx="5143500" cy="19046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72707" y="6057900"/>
            <a:ext cx="5143500" cy="19046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001500" y="6057900"/>
            <a:ext cx="5143500" cy="190469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12 / 15</a:t>
            </a:r>
            <a:endParaRPr lang="ko-KR" sz="1350" dirty="0" altLang="en-US"/>
          </a:p>
        </p:txBody>
      </p:sp>
      <p:sp>
        <p:nvSpPr>
          <p:cNvPr id="13" name="Text 10"/>
          <p:cNvSpPr txBox="1"/>
          <p:nvPr/>
        </p:nvSpPr>
        <p:spPr>
          <a:xfrm>
            <a:off x="1143000" y="1238098"/>
            <a:ext cx="10478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8장 · 두 번째 독자 | 9장 · 읽히는 다른 방법</a:t>
            </a:r>
            <a:endParaRPr lang="ko-KR" sz="1350" dirty="0" altLang="en-US"/>
          </a:p>
        </p:txBody>
      </p:sp>
      <p:sp>
        <p:nvSpPr>
          <p:cNvPr id="14" name="Text 11"/>
          <p:cNvSpPr txBox="1"/>
          <p:nvPr/>
        </p:nvSpPr>
        <p:spPr>
          <a:xfrm>
            <a:off x="1485900" y="1809598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8장 · 두 번째 독자</a:t>
            </a:r>
            <a:endParaRPr lang="ko-KR" sz="1200" dirty="0" altLang="en-US"/>
          </a:p>
        </p:txBody>
      </p:sp>
      <p:sp>
        <p:nvSpPr>
          <p:cNvPr id="15" name="Text 12"/>
          <p:cNvSpPr txBox="1"/>
          <p:nvPr/>
        </p:nvSpPr>
        <p:spPr>
          <a:xfrm>
            <a:off x="1485900" y="2038198"/>
            <a:ext cx="7620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70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 독자는 손님이자 부하다.</a:t>
            </a:r>
            <a:endParaRPr lang="ko-KR" sz="2700" dirty="0" altLang="en-US"/>
          </a:p>
        </p:txBody>
      </p:sp>
      <p:sp>
        <p:nvSpPr>
          <p:cNvPr id="16" name="Text 13"/>
          <p:cNvSpPr txBox="1"/>
          <p:nvPr/>
        </p:nvSpPr>
        <p:spPr>
          <a:xfrm>
            <a:off x="1485900" y="2723998"/>
            <a:ext cx="7810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11,500건 중 AI 요약이 붙은 비율 </a:t>
            </a:r>
            <a:pPr algn="l" indent="0" marL="0">
              <a:buNone/>
            </a:pPr>
            <a:r>
              <a:rPr lang="ko-KR" sz="1800" b="1" dirty="0" altLang="en-US">
                <a:solidFill>
                  <a:srgbClr val="C97C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51.5%</a:t>
            </a:r>
            <a:pPr algn="l" indent="0" marL="0">
              <a:buNone/>
            </a:pPr>
            <a:r>
              <a:rPr lang="ko-KR" sz="150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Grossman 외 SIGIR 2026</a:t>
            </a:r>
            <a:endParaRPr lang="ko-KR" sz="1500" dirty="0" altLang="en-US"/>
          </a:p>
        </p:txBody>
      </p:sp>
      <p:sp>
        <p:nvSpPr>
          <p:cNvPr id="17" name="Text 14"/>
          <p:cNvSpPr txBox="1"/>
          <p:nvPr/>
        </p:nvSpPr>
        <p:spPr>
          <a:xfrm>
            <a:off x="10248595" y="1848002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읽고 옮겨 말하는 독자</a:t>
            </a:r>
            <a:endParaRPr lang="ko-KR" sz="1200" dirty="0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248595" y="2115007"/>
            <a:ext cx="6667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읽고 떠나고, 기계는 읽고 옮겨 말한다 — 그 과정에서 글은 쪼개지고 섞여 출처 링크 하나로 줄어든다.</a:t>
            </a:r>
            <a:endParaRPr lang="ko-KR" sz="1800" dirty="0" altLang="en-US"/>
          </a:p>
        </p:txBody>
      </p:sp>
      <p:sp>
        <p:nvSpPr>
          <p:cNvPr id="19" name="Text 16"/>
          <p:cNvSpPr txBox="1"/>
          <p:nvPr/>
        </p:nvSpPr>
        <p:spPr>
          <a:xfrm>
            <a:off x="1143000" y="3504895"/>
            <a:ext cx="14287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9장 · 읽히는 다른 방법 — 가설 카드, 근거 강도 </a:t>
            </a:r>
            <a:pPr algn="l" indent="0" marL="0">
              <a:buNone/>
            </a:pPr>
            <a:r>
              <a:rPr lang="ko-KR" sz="1350" b="1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약 ~ 약~중</a:t>
            </a:r>
            <a:endParaRPr lang="ko-KR" sz="1350" dirty="0" altLang="en-US"/>
          </a:p>
        </p:txBody>
      </p:sp>
      <p:sp>
        <p:nvSpPr>
          <p:cNvPr id="20" name="Text 17"/>
          <p:cNvSpPr txBox="1"/>
          <p:nvPr/>
        </p:nvSpPr>
        <p:spPr>
          <a:xfrm>
            <a:off x="1447495" y="4172407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H9-1 · 약</a:t>
            </a:r>
            <a:endParaRPr lang="ko-KR" sz="1350" dirty="0" altLang="en-US"/>
          </a:p>
        </p:txBody>
      </p:sp>
      <p:sp>
        <p:nvSpPr>
          <p:cNvPr id="21" name="Text 18"/>
          <p:cNvSpPr txBox="1"/>
          <p:nvPr/>
        </p:nvSpPr>
        <p:spPr>
          <a:xfrm>
            <a:off x="1447495" y="4401007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spc="-37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원재료</a:t>
            </a:r>
            <a:endParaRPr lang="ko-KR" sz="2400" dirty="0" altLang="en-US"/>
          </a:p>
        </p:txBody>
      </p:sp>
      <p:sp>
        <p:nvSpPr>
          <p:cNvPr id="22" name="Text 19"/>
          <p:cNvSpPr txBox="1"/>
          <p:nvPr/>
        </p:nvSpPr>
        <p:spPr>
          <a:xfrm>
            <a:off x="1447495" y="4934102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겪고 잰 경험·데이터를 담은 글</a:t>
            </a:r>
            <a:endParaRPr lang="ko-KR" sz="1350" dirty="0" altLang="en-US"/>
          </a:p>
        </p:txBody>
      </p:sp>
      <p:sp>
        <p:nvSpPr>
          <p:cNvPr id="23" name="Text 20"/>
          <p:cNvSpPr txBox="1"/>
          <p:nvPr/>
        </p:nvSpPr>
        <p:spPr>
          <a:xfrm>
            <a:off x="6877202" y="4172407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H9-2 · 약~중</a:t>
            </a:r>
            <a:endParaRPr lang="ko-KR" sz="1350" dirty="0" altLang="en-US"/>
          </a:p>
        </p:txBody>
      </p:sp>
      <p:sp>
        <p:nvSpPr>
          <p:cNvPr id="24" name="Text 21"/>
          <p:cNvSpPr txBox="1"/>
          <p:nvPr/>
        </p:nvSpPr>
        <p:spPr>
          <a:xfrm>
            <a:off x="6877202" y="4401007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spc="-37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</a:t>
            </a:r>
            <a:endParaRPr lang="ko-KR" sz="2400" dirty="0" altLang="en-US"/>
          </a:p>
        </p:txBody>
      </p:sp>
      <p:sp>
        <p:nvSpPr>
          <p:cNvPr id="25" name="Text 22"/>
          <p:cNvSpPr txBox="1"/>
          <p:nvPr/>
        </p:nvSpPr>
        <p:spPr>
          <a:xfrm>
            <a:off x="6877202" y="4934102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사회적으로 묶인 곳에 원문을 건다</a:t>
            </a:r>
            <a:endParaRPr lang="ko-KR" sz="1350" dirty="0" altLang="en-US"/>
          </a:p>
        </p:txBody>
      </p:sp>
      <p:sp>
        <p:nvSpPr>
          <p:cNvPr id="26" name="Text 23"/>
          <p:cNvSpPr txBox="1"/>
          <p:nvPr/>
        </p:nvSpPr>
        <p:spPr>
          <a:xfrm>
            <a:off x="12305995" y="4172407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H9-3 · 약</a:t>
            </a:r>
            <a:endParaRPr lang="ko-KR" sz="1350" dirty="0" altLang="en-US"/>
          </a:p>
        </p:txBody>
      </p:sp>
      <p:sp>
        <p:nvSpPr>
          <p:cNvPr id="27" name="Text 24"/>
          <p:cNvSpPr txBox="1"/>
          <p:nvPr/>
        </p:nvSpPr>
        <p:spPr>
          <a:xfrm>
            <a:off x="12305995" y="4401007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spc="-37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</a:t>
            </a:r>
            <a:endParaRPr lang="ko-KR" sz="2400" dirty="0" altLang="en-US"/>
          </a:p>
        </p:txBody>
      </p:sp>
      <p:sp>
        <p:nvSpPr>
          <p:cNvPr id="28" name="Text 25"/>
          <p:cNvSpPr txBox="1"/>
          <p:nvPr/>
        </p:nvSpPr>
        <p:spPr>
          <a:xfrm>
            <a:off x="12305995" y="4934102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소식에 판단 문장을 다는 큐레이션</a:t>
            </a:r>
            <a:endParaRPr lang="ko-KR" sz="1350" dirty="0" altLang="en-US"/>
          </a:p>
        </p:txBody>
      </p:sp>
      <p:sp>
        <p:nvSpPr>
          <p:cNvPr id="29" name="Text 26"/>
          <p:cNvSpPr txBox="1"/>
          <p:nvPr/>
        </p:nvSpPr>
        <p:spPr>
          <a:xfrm>
            <a:off x="1447495" y="6267298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H9-4 · 약</a:t>
            </a:r>
            <a:endParaRPr lang="ko-KR" sz="1350" dirty="0" altLang="en-US"/>
          </a:p>
        </p:txBody>
      </p:sp>
      <p:sp>
        <p:nvSpPr>
          <p:cNvPr id="30" name="Text 27"/>
          <p:cNvSpPr txBox="1"/>
          <p:nvPr/>
        </p:nvSpPr>
        <p:spPr>
          <a:xfrm>
            <a:off x="1447495" y="6495898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spc="-37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관계</a:t>
            </a:r>
            <a:endParaRPr lang="ko-KR" sz="2400" dirty="0" altLang="en-US"/>
          </a:p>
        </p:txBody>
      </p:sp>
      <p:sp>
        <p:nvSpPr>
          <p:cNvPr id="31" name="Text 28"/>
          <p:cNvSpPr txBox="1"/>
          <p:nvPr/>
        </p:nvSpPr>
        <p:spPr>
          <a:xfrm>
            <a:off x="1447495" y="7029907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검색을 거치지 않는 직접 구독 — 단 목소리가 사람일 때</a:t>
            </a:r>
            <a:endParaRPr lang="ko-KR" sz="1350" dirty="0" altLang="en-US"/>
          </a:p>
        </p:txBody>
      </p:sp>
      <p:sp>
        <p:nvSpPr>
          <p:cNvPr id="32" name="Text 29"/>
          <p:cNvSpPr txBox="1"/>
          <p:nvPr/>
        </p:nvSpPr>
        <p:spPr>
          <a:xfrm>
            <a:off x="6877202" y="6267298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H9-5 · 약</a:t>
            </a:r>
            <a:endParaRPr lang="ko-KR" sz="1350" dirty="0" altLang="en-US"/>
          </a:p>
        </p:txBody>
      </p:sp>
      <p:sp>
        <p:nvSpPr>
          <p:cNvPr id="33" name="Text 30"/>
          <p:cNvSpPr txBox="1"/>
          <p:nvPr/>
        </p:nvSpPr>
        <p:spPr>
          <a:xfrm>
            <a:off x="6877202" y="6495898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spc="-37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대화형 문서</a:t>
            </a:r>
            <a:endParaRPr lang="ko-KR" sz="2400" dirty="0" altLang="en-US"/>
          </a:p>
        </p:txBody>
      </p:sp>
      <p:sp>
        <p:nvSpPr>
          <p:cNvPr id="34" name="Text 31"/>
          <p:cNvSpPr txBox="1"/>
          <p:nvPr/>
        </p:nvSpPr>
        <p:spPr>
          <a:xfrm>
            <a:off x="6877202" y="7029907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질문할 수 있는 지식베이스로 둔다</a:t>
            </a:r>
            <a:endParaRPr lang="ko-KR" sz="1350" dirty="0" altLang="en-US"/>
          </a:p>
        </p:txBody>
      </p:sp>
      <p:sp>
        <p:nvSpPr>
          <p:cNvPr id="35" name="Text 32"/>
          <p:cNvSpPr txBox="1"/>
          <p:nvPr/>
        </p:nvSpPr>
        <p:spPr>
          <a:xfrm>
            <a:off x="12305995" y="6267298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H9-6 · 약</a:t>
            </a:r>
            <a:endParaRPr lang="ko-KR" sz="1350" dirty="0" altLang="en-US"/>
          </a:p>
        </p:txBody>
      </p:sp>
      <p:sp>
        <p:nvSpPr>
          <p:cNvPr id="36" name="Text 33"/>
          <p:cNvSpPr txBox="1"/>
          <p:nvPr/>
        </p:nvSpPr>
        <p:spPr>
          <a:xfrm>
            <a:off x="12305995" y="6495898"/>
            <a:ext cx="4572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b="1" spc="-37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실행되는 글</a:t>
            </a:r>
            <a:endParaRPr lang="ko-KR" sz="2400" dirty="0" altLang="en-US"/>
          </a:p>
        </p:txBody>
      </p:sp>
      <p:sp>
        <p:nvSpPr>
          <p:cNvPr id="37" name="Text 34"/>
          <p:cNvSpPr txBox="1"/>
          <p:nvPr/>
        </p:nvSpPr>
        <p:spPr>
          <a:xfrm>
            <a:off x="12305995" y="7029907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독자가 돌려 보는 코드와 설정을 첨부</a:t>
            </a:r>
            <a:endParaRPr lang="ko-KR" sz="1350" dirty="0" altLang="en-US"/>
          </a:p>
        </p:txBody>
      </p:sp>
      <p:sp>
        <p:nvSpPr>
          <p:cNvPr id="39" name="Text 36"/>
          <p:cNvSpPr txBox="1"/>
          <p:nvPr/>
        </p:nvSpPr>
        <p:spPr>
          <a:xfrm>
            <a:off x="1143000" y="8268005"/>
            <a:ext cx="1600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8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달에는 카드 한 장만 고르자.</a:t>
            </a:r>
            <a:endParaRPr lang="ko-KR" sz="1800" dirty="0" altLang="en-US"/>
          </a:p>
        </p:txBody>
      </p:sp>
      <p:sp>
        <p:nvSpPr>
          <p:cNvPr id="40" name="Text 37"/>
          <p:cNvSpPr txBox="1"/>
          <p:nvPr/>
        </p:nvSpPr>
        <p:spPr>
          <a:xfrm>
            <a:off x="1143000" y="8686800"/>
            <a:ext cx="1600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바꿨는지와 반증 조건에 적은 현상이 보였는지 — 두 가지만 기록하면 된다. 한 달 뒤 다음 실험을 정한다.</a:t>
            </a:r>
            <a:endParaRPr lang="ko-KR" sz="1500" dirty="0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pic>
        <p:nvPicPr>
          <p:cNvPr id="3" name="Image 1" descr="gen-dedup-f71cf0d6943e67d09cbfb979da04a8ac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8801100" y="3238805"/>
            <a:ext cx="9144" cy="49533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8496605"/>
            <a:ext cx="16002000" cy="914400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13 / 15</a:t>
            </a:r>
            <a:endParaRPr lang="ko-KR" sz="1350" dirty="0" altLang="en-US"/>
          </a:p>
        </p:txBody>
      </p:sp>
      <p:sp>
        <p:nvSpPr>
          <p:cNvPr id="6" name="Text 2"/>
          <p:cNvSpPr txBox="1"/>
          <p:nvPr/>
        </p:nvSpPr>
        <p:spPr>
          <a:xfrm>
            <a:off x="1143000" y="1238098"/>
            <a:ext cx="10478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10장 · 두 보고서, 두 질문</a:t>
            </a:r>
            <a:endParaRPr lang="ko-KR" sz="1350" dirty="0" altLang="en-US"/>
          </a:p>
        </p:txBody>
      </p:sp>
      <p:sp>
        <p:nvSpPr>
          <p:cNvPr id="7" name="Text 3"/>
          <p:cNvSpPr txBox="1"/>
          <p:nvPr/>
        </p:nvSpPr>
        <p:spPr>
          <a:xfrm>
            <a:off x="1143000" y="1580998"/>
            <a:ext cx="142875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8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지표와 성과 지표를 가르자</a:t>
            </a:r>
            <a:endParaRPr lang="ko-KR" sz="4800" dirty="0" altLang="en-US"/>
          </a:p>
        </p:txBody>
      </p:sp>
      <p:sp>
        <p:nvSpPr>
          <p:cNvPr id="8" name="Text 4"/>
          <p:cNvSpPr txBox="1"/>
          <p:nvPr/>
        </p:nvSpPr>
        <p:spPr>
          <a:xfrm>
            <a:off x="1143000" y="2667305"/>
            <a:ext cx="142875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한 보고서에 섞으면 둘 다 흐려진다 — 편집국이 잘 도는가, 독자에게 무엇이 일어났는가.</a:t>
            </a:r>
            <a:endParaRPr lang="ko-KR" sz="1650" dirty="0" altLang="en-US"/>
          </a:p>
        </p:txBody>
      </p:sp>
      <p:sp>
        <p:nvSpPr>
          <p:cNvPr id="9" name="Text 5"/>
          <p:cNvSpPr txBox="1"/>
          <p:nvPr/>
        </p:nvSpPr>
        <p:spPr>
          <a:xfrm>
            <a:off x="1143000" y="3238805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운영 지표</a:t>
            </a:r>
            <a:endParaRPr lang="ko-KR" sz="1350" dirty="0" altLang="en-US"/>
          </a:p>
        </p:txBody>
      </p:sp>
      <p:sp>
        <p:nvSpPr>
          <p:cNvPr id="10" name="Text 6"/>
          <p:cNvSpPr txBox="1"/>
          <p:nvPr/>
        </p:nvSpPr>
        <p:spPr>
          <a:xfrm>
            <a:off x="1143000" y="3562502"/>
            <a:ext cx="72393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4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편집국이 잘 도는가</a:t>
            </a:r>
            <a:endParaRPr lang="ko-KR" sz="3450" dirty="0" altLang="en-US"/>
          </a:p>
        </p:txBody>
      </p:sp>
      <p:sp>
        <p:nvSpPr>
          <p:cNvPr id="11" name="Text 7"/>
          <p:cNvSpPr txBox="1"/>
          <p:nvPr/>
        </p:nvSpPr>
        <p:spPr>
          <a:xfrm>
            <a:off x="1079500" y="4356202"/>
            <a:ext cx="7302805" cy="183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편당 비용 · 소요 시간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endParaRPr lang="ko-KR" sz="1800" dirty="0" altLang="en-US"/>
          </a:p>
          <a:p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왕복 수 · 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개입률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endParaRPr lang="ko-KR" sz="1800" dirty="0" altLang="en-US"/>
          </a:p>
          <a:p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정정 건수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거짓 양성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endParaRPr lang="ko-KR" sz="1800" dirty="0" altLang="en-US"/>
          </a:p>
          <a:p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변경일 — self-improve PR</a:t>
            </a:r>
            <a:endParaRPr lang="ko-KR" sz="1800" dirty="0" altLang="en-US"/>
          </a:p>
        </p:txBody>
      </p:sp>
      <p:sp>
        <p:nvSpPr>
          <p:cNvPr id="12" name="Text 8"/>
          <p:cNvSpPr txBox="1"/>
          <p:nvPr/>
        </p:nvSpPr>
        <p:spPr>
          <a:xfrm>
            <a:off x="1143000" y="6743700"/>
            <a:ext cx="7239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정정 0건은 오류가 없었다는 뜻일 수도,</a:t>
            </a:r>
            <a:pPr algn="l" indent="0" marL="0">
              <a:lnSpc>
                <a:spcPts val="2400"/>
              </a:lnSpc>
              <a:buNone/>
            </a:pPr>
            <a:endParaRPr lang="ko-KR" sz="1500" dirty="0" altLang="en-US"/>
          </a:p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찾지 않았다는 뜻일 수도 있다.</a:t>
            </a:r>
            <a:endParaRPr lang="ko-KR" sz="1500" dirty="0" altLang="en-US"/>
          </a:p>
        </p:txBody>
      </p:sp>
      <p:sp>
        <p:nvSpPr>
          <p:cNvPr id="13" name="Text 9"/>
          <p:cNvSpPr txBox="1"/>
          <p:nvPr/>
        </p:nvSpPr>
        <p:spPr>
          <a:xfrm>
            <a:off x="9296705" y="3238805"/>
            <a:ext cx="7810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성과 지표</a:t>
            </a:r>
            <a:endParaRPr lang="ko-KR" sz="1350" dirty="0" altLang="en-US"/>
          </a:p>
        </p:txBody>
      </p:sp>
      <p:sp>
        <p:nvSpPr>
          <p:cNvPr id="14" name="Text 10"/>
          <p:cNvSpPr txBox="1"/>
          <p:nvPr/>
        </p:nvSpPr>
        <p:spPr>
          <a:xfrm>
            <a:off x="9296705" y="3562502"/>
            <a:ext cx="781080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4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독자에게 무엇이 일어났나</a:t>
            </a:r>
            <a:endParaRPr lang="ko-KR" sz="3450" dirty="0" altLang="en-US"/>
          </a:p>
        </p:txBody>
      </p:sp>
      <p:sp>
        <p:nvSpPr>
          <p:cNvPr id="15" name="Text 11"/>
          <p:cNvSpPr txBox="1"/>
          <p:nvPr/>
        </p:nvSpPr>
        <p:spPr>
          <a:xfrm>
            <a:off x="9233205" y="4356202"/>
            <a:ext cx="7874305" cy="183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· 클릭 — 화면 조건에 흔들림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endParaRPr lang="ko-KR" sz="1800" dirty="0" altLang="en-US"/>
          </a:p>
          <a:p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b="1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조작 위험 높음, 흔들림, 부정확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endParaRPr lang="ko-KR" sz="1800" dirty="0" altLang="en-US"/>
          </a:p>
          <a:p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— 예제 실행, 이슈, PR, 댓글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endParaRPr lang="ko-KR" sz="1800" dirty="0" altLang="en-US"/>
          </a:p>
          <a:p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92100" indent="-292100">
              <a:lnSpc>
                <a:spcPts val="3450"/>
              </a:lnSpc>
              <a:buSzPct val="100000"/>
              <a:buChar char="•"/>
            </a:pPr>
            <a:r>
              <a:rPr lang="ko-KR" sz="180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— 재방문 · 구독 유지 · 재유통</a:t>
            </a:r>
            <a:endParaRPr lang="ko-KR" sz="1800" dirty="0" altLang="en-US"/>
          </a:p>
        </p:txBody>
      </p:sp>
      <p:sp>
        <p:nvSpPr>
          <p:cNvPr id="16" name="Text 12"/>
          <p:cNvSpPr txBox="1"/>
          <p:nvPr/>
        </p:nvSpPr>
        <p:spPr>
          <a:xfrm>
            <a:off x="9296705" y="6743700"/>
            <a:ext cx="7810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오는 경로와 인용되는 경로는 따로 — </a:t>
            </a:r>
            <a:pPr algn="l" indent="0" marL="0">
              <a:lnSpc>
                <a:spcPts val="2400"/>
              </a:lnSpc>
              <a:buNone/>
            </a:pPr>
            <a:endParaRPr lang="ko-KR" sz="1500" dirty="0" altLang="en-US"/>
          </a:p>
          <a:p>
            <a:pPr algn="l" indent="0" marL="0">
              <a:lnSpc>
                <a:spcPts val="2400"/>
              </a:lnSpc>
              <a:buNone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경로가 다시 만나는 곳이 행동과 관계다.</a:t>
            </a:r>
            <a:endParaRPr lang="ko-KR" sz="1500" dirty="0" altLang="en-US"/>
          </a:p>
        </p:txBody>
      </p:sp>
      <p:sp>
        <p:nvSpPr>
          <p:cNvPr id="17" name="Text 13"/>
          <p:cNvSpPr txBox="1"/>
          <p:nvPr/>
        </p:nvSpPr>
        <p:spPr>
          <a:xfrm>
            <a:off x="1524305" y="8706002"/>
            <a:ext cx="1524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800" i="1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숫자는 개별 필진을 평가하는 데 쓰지 않는다." </a:t>
            </a:r>
            <a:pPr algn="l" indent="0" marL="0">
              <a:buNone/>
            </a:pPr>
            <a:r>
              <a:rPr lang="ko-KR" sz="1800" i="1" dirty="0" altLang="en-US">
                <a:solidFill>
                  <a:srgbClr val="C97C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사용 제한 선언</a:t>
            </a:r>
            <a:endParaRPr lang="ko-KR" sz="1800" dirty="0" altLang="en-US"/>
          </a:p>
        </p:txBody>
      </p:sp>
      <p:sp>
        <p:nvSpPr>
          <p:cNvPr id="18" name="Text 14"/>
          <p:cNvSpPr txBox="1"/>
          <p:nvPr/>
        </p:nvSpPr>
        <p:spPr>
          <a:xfrm>
            <a:off x="1524305" y="9087307"/>
            <a:ext cx="15240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조회수와 인용을 합쳐 단일 점수로 쓰지 않는다 — 한 지표가 움직일 때 다른 지표도 같이 움직이는지 본다.</a:t>
            </a:r>
            <a:endParaRPr lang="ko-KR" sz="1350" dirty="0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743200"/>
            <a:ext cx="3200400" cy="266730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496105" y="2743200"/>
            <a:ext cx="3200400" cy="266730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48295" y="2743200"/>
            <a:ext cx="3200400" cy="266730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201400" y="2743200"/>
            <a:ext cx="3200400" cy="2667305"/>
          </a:xfrm>
          <a:prstGeom prst="rect">
            <a:avLst/>
          </a:prstGeom>
          <a:solidFill>
            <a:srgbClr val="ECDFC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554505" y="2743200"/>
            <a:ext cx="2590495" cy="266730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9ad5867ce47a18b439cde800d8f273bb.png">    </p:cNvPr>
          <p:cNvPicPr>
            <a:picLocks noChangeAspect="1"/>
          </p:cNvPicPr>
          <p:nvPr/>
        </p:nvPicPr>
        <p:blipFill>
          <a:blip r:embed="rId2"/>
          <a:srcRect l="-394" r="-394" t="0" b="0"/>
          <a:stretch/>
        </p:blipFill>
        <p:spPr>
          <a:xfrm>
            <a:off x="1123798" y="6096305"/>
            <a:ext cx="38405" cy="26673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14 / 15</a:t>
            </a:r>
            <a:endParaRPr lang="ko-KR" sz="1350" dirty="0" altLang="en-US"/>
          </a:p>
        </p:txBody>
      </p:sp>
      <p:sp>
        <p:nvSpPr>
          <p:cNvPr id="10" name="Text 6"/>
          <p:cNvSpPr txBox="1"/>
          <p:nvPr/>
        </p:nvSpPr>
        <p:spPr>
          <a:xfrm>
            <a:off x="1143000" y="1238098"/>
            <a:ext cx="10478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11장 · 쓰는 사람의 일</a:t>
            </a:r>
            <a:endParaRPr lang="ko-KR" sz="1350" dirty="0" altLang="en-US"/>
          </a:p>
        </p:txBody>
      </p:sp>
      <p:sp>
        <p:nvSpPr>
          <p:cNvPr id="11" name="Text 7"/>
          <p:cNvSpPr txBox="1"/>
          <p:nvPr/>
        </p:nvSpPr>
        <p:spPr>
          <a:xfrm>
            <a:off x="1143000" y="1580998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5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맡는 다섯 가지 일</a:t>
            </a:r>
            <a:endParaRPr lang="ko-KR" sz="4500" dirty="0" altLang="en-US"/>
          </a:p>
        </p:txBody>
      </p:sp>
      <p:sp>
        <p:nvSpPr>
          <p:cNvPr id="12" name="Text 8"/>
          <p:cNvSpPr txBox="1"/>
          <p:nvPr/>
        </p:nvSpPr>
        <p:spPr>
          <a:xfrm>
            <a:off x="1447495" y="2971800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ko-KR" sz="1200" dirty="0" altLang="en-US"/>
          </a:p>
        </p:txBody>
      </p:sp>
      <p:sp>
        <p:nvSpPr>
          <p:cNvPr id="13" name="Text 9"/>
          <p:cNvSpPr txBox="1"/>
          <p:nvPr/>
        </p:nvSpPr>
        <p:spPr>
          <a:xfrm>
            <a:off x="1447495" y="3238805"/>
            <a:ext cx="26673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1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ko-KR" sz="3150" dirty="0" altLang="en-US"/>
          </a:p>
        </p:txBody>
      </p:sp>
      <p:sp>
        <p:nvSpPr>
          <p:cNvPr id="14" name="Text 10"/>
          <p:cNvSpPr txBox="1"/>
          <p:nvPr/>
        </p:nvSpPr>
        <p:spPr>
          <a:xfrm>
            <a:off x="1447495" y="3817620"/>
            <a:ext cx="2667305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무엇을</a:t>
            </a:r>
            <a:pPr algn="l" indent="0" marL="0">
              <a:lnSpc>
                <a:spcPts val="210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약속하는지 정한다</a:t>
            </a:r>
            <a:endParaRPr lang="ko-KR" sz="1350" dirty="0" altLang="en-US"/>
          </a:p>
        </p:txBody>
      </p:sp>
      <p:sp>
        <p:nvSpPr>
          <p:cNvPr id="15" name="Text 11"/>
          <p:cNvSpPr txBox="1"/>
          <p:nvPr/>
        </p:nvSpPr>
        <p:spPr>
          <a:xfrm>
            <a:off x="4800600" y="2971800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ko-KR" sz="1200" dirty="0" altLang="en-US"/>
          </a:p>
        </p:txBody>
      </p:sp>
      <p:sp>
        <p:nvSpPr>
          <p:cNvPr id="16" name="Text 12"/>
          <p:cNvSpPr txBox="1"/>
          <p:nvPr/>
        </p:nvSpPr>
        <p:spPr>
          <a:xfrm>
            <a:off x="4800600" y="3238805"/>
            <a:ext cx="26673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1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원재료</a:t>
            </a:r>
            <a:endParaRPr lang="ko-KR" sz="3150" dirty="0" altLang="en-US"/>
          </a:p>
        </p:txBody>
      </p:sp>
      <p:sp>
        <p:nvSpPr>
          <p:cNvPr id="17" name="Text 13"/>
          <p:cNvSpPr txBox="1"/>
          <p:nvPr/>
        </p:nvSpPr>
        <p:spPr>
          <a:xfrm>
            <a:off x="4800600" y="3817620"/>
            <a:ext cx="2667305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겪고 잰 것을</a:t>
            </a:r>
            <a:pPr algn="l" indent="0" marL="0">
              <a:lnSpc>
                <a:spcPts val="210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내놓는다</a:t>
            </a:r>
            <a:endParaRPr lang="ko-KR" sz="1350" dirty="0" altLang="en-US"/>
          </a:p>
        </p:txBody>
      </p:sp>
      <p:sp>
        <p:nvSpPr>
          <p:cNvPr id="18" name="Text 14"/>
          <p:cNvSpPr txBox="1"/>
          <p:nvPr/>
        </p:nvSpPr>
        <p:spPr>
          <a:xfrm>
            <a:off x="8153705" y="2971800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ko-KR" sz="1200" dirty="0" altLang="en-US"/>
          </a:p>
        </p:txBody>
      </p:sp>
      <p:sp>
        <p:nvSpPr>
          <p:cNvPr id="19" name="Text 15"/>
          <p:cNvSpPr txBox="1"/>
          <p:nvPr/>
        </p:nvSpPr>
        <p:spPr>
          <a:xfrm>
            <a:off x="8153705" y="3238805"/>
            <a:ext cx="26673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1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</a:t>
            </a:r>
            <a:endParaRPr lang="ko-KR" sz="3150" dirty="0" altLang="en-US"/>
          </a:p>
        </p:txBody>
      </p:sp>
      <p:sp>
        <p:nvSpPr>
          <p:cNvPr id="20" name="Text 16"/>
          <p:cNvSpPr txBox="1"/>
          <p:nvPr/>
        </p:nvSpPr>
        <p:spPr>
          <a:xfrm>
            <a:off x="8153705" y="3817620"/>
            <a:ext cx="2667305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오류를 고치고</a:t>
            </a:r>
            <a:pPr algn="l" indent="0" marL="0">
              <a:lnSpc>
                <a:spcPts val="210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밝힐지 정한다</a:t>
            </a:r>
            <a:endParaRPr lang="ko-KR" sz="1350" dirty="0" altLang="en-US"/>
          </a:p>
        </p:txBody>
      </p:sp>
      <p:sp>
        <p:nvSpPr>
          <p:cNvPr id="21" name="Text 17"/>
          <p:cNvSpPr txBox="1"/>
          <p:nvPr/>
        </p:nvSpPr>
        <p:spPr>
          <a:xfrm>
            <a:off x="11505895" y="2971800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ko-KR" sz="1200" dirty="0" altLang="en-US"/>
          </a:p>
        </p:txBody>
      </p:sp>
      <p:sp>
        <p:nvSpPr>
          <p:cNvPr id="22" name="Text 18"/>
          <p:cNvSpPr txBox="1"/>
          <p:nvPr/>
        </p:nvSpPr>
        <p:spPr>
          <a:xfrm>
            <a:off x="11505895" y="3238805"/>
            <a:ext cx="26673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15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</a:t>
            </a:r>
            <a:endParaRPr lang="ko-KR" sz="3150" dirty="0" altLang="en-US"/>
          </a:p>
        </p:txBody>
      </p:sp>
      <p:sp>
        <p:nvSpPr>
          <p:cNvPr id="23" name="Text 19"/>
          <p:cNvSpPr txBox="1"/>
          <p:nvPr/>
        </p:nvSpPr>
        <p:spPr>
          <a:xfrm>
            <a:off x="11505895" y="3817620"/>
            <a:ext cx="2667305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독자의 말에 답하고</a:t>
            </a:r>
            <a:pPr algn="l" indent="0" marL="0">
              <a:lnSpc>
                <a:spcPts val="210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이어 간다</a:t>
            </a:r>
            <a:endParaRPr lang="ko-KR" sz="1350" dirty="0" altLang="en-US"/>
          </a:p>
        </p:txBody>
      </p:sp>
      <p:sp>
        <p:nvSpPr>
          <p:cNvPr id="24" name="Text 20"/>
          <p:cNvSpPr txBox="1"/>
          <p:nvPr/>
        </p:nvSpPr>
        <p:spPr>
          <a:xfrm>
            <a:off x="14859000" y="2971800"/>
            <a:ext cx="2095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20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ko-KR" sz="1200" dirty="0" altLang="en-US"/>
          </a:p>
        </p:txBody>
      </p:sp>
      <p:sp>
        <p:nvSpPr>
          <p:cNvPr id="25" name="Text 21"/>
          <p:cNvSpPr txBox="1"/>
          <p:nvPr/>
        </p:nvSpPr>
        <p:spPr>
          <a:xfrm>
            <a:off x="14859000" y="3238805"/>
            <a:ext cx="20958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31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세는 기준</a:t>
            </a:r>
            <a:endParaRPr lang="ko-KR" sz="3150" dirty="0" altLang="en-US"/>
          </a:p>
        </p:txBody>
      </p:sp>
      <p:sp>
        <p:nvSpPr>
          <p:cNvPr id="26" name="Text 22"/>
          <p:cNvSpPr txBox="1"/>
          <p:nvPr/>
        </p:nvSpPr>
        <p:spPr>
          <a:xfrm>
            <a:off x="14859000" y="3817620"/>
            <a:ext cx="2095805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지표를 어디에</a:t>
            </a:r>
            <a:pPr algn="l" indent="0" marL="0">
              <a:lnSpc>
                <a:spcPts val="210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않을지 정한다</a:t>
            </a:r>
            <a:endParaRPr lang="ko-KR" sz="1350" dirty="0" altLang="en-US"/>
          </a:p>
        </p:txBody>
      </p:sp>
      <p:sp>
        <p:nvSpPr>
          <p:cNvPr id="27" name="Text 23"/>
          <p:cNvSpPr txBox="1"/>
          <p:nvPr/>
        </p:nvSpPr>
        <p:spPr>
          <a:xfrm>
            <a:off x="1447495" y="6096305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남은 결정 — 다섯 가지 점검 질문</a:t>
            </a:r>
            <a:endParaRPr lang="ko-KR" sz="1350" dirty="0" altLang="en-US"/>
          </a:p>
        </p:txBody>
      </p:sp>
      <p:sp>
        <p:nvSpPr>
          <p:cNvPr id="28" name="Text 24"/>
          <p:cNvSpPr txBox="1"/>
          <p:nvPr/>
        </p:nvSpPr>
        <p:spPr>
          <a:xfrm>
            <a:off x="1447495" y="6400800"/>
            <a:ext cx="1562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"아무도"나 "모르겠다"인 질문이 있다면 — 그 일의 담당자부터 정하자.</a:t>
            </a:r>
            <a:endParaRPr lang="ko-KR" sz="1650" dirty="0" altLang="en-US"/>
          </a:p>
        </p:txBody>
      </p:sp>
      <p:sp>
        <p:nvSpPr>
          <p:cNvPr id="29" name="Text 25"/>
          <p:cNvSpPr txBox="1"/>
          <p:nvPr/>
        </p:nvSpPr>
        <p:spPr>
          <a:xfrm>
            <a:off x="1434795" y="6990588"/>
            <a:ext cx="16014700" cy="177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b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이번 달 글감 가운데, 사람이 누구를 위해 무엇을 약속하는지 정하고 시작한 글은 몇 편인가?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endParaRPr lang="ko-KR" sz="1500" dirty="0" altLang="en-US"/>
          </a:p>
          <a:p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b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원재료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"이 글에만 있는 것"이 비어 있는 채로 발행된 글은 몇 편인가?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endParaRPr lang="ko-KR" sz="1500" dirty="0" altLang="en-US"/>
          </a:p>
          <a:p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b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지금 발행된 글 하나에 오류가 있다면, 누가 고치고 어디에 밝히는가?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endParaRPr lang="ko-KR" sz="1500" dirty="0" altLang="en-US"/>
          </a:p>
          <a:p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b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독자가 우리에게 말을 걸 수 있는 통로는 어디이고, 거기에 답하는 사람은 누구인가?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endParaRPr lang="ko-KR" sz="1500" dirty="0" altLang="en-US"/>
          </a:p>
          <a:p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b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세는 기준</a:t>
            </a:r>
            <a:pPr algn="l" marL="241300" indent="-241300">
              <a:lnSpc>
                <a:spcPts val="2700"/>
              </a:lnSpc>
              <a:buSzPct val="100000"/>
              <a:buChar char="•"/>
            </a:pPr>
            <a:r>
              <a:rPr lang="ko-KR" sz="150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다음 분기 보고서에서 조회수 옆에 둘 지표 하나는 무엇인가?</a:t>
            </a:r>
            <a:endParaRPr lang="ko-KR" sz="1500" dirty="0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E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c4ffed437554fbaedb4ce3b769a8e0a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1123798"/>
            <a:ext cx="609905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334195" y="3238805"/>
            <a:ext cx="4572000" cy="198150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5391302"/>
            <a:ext cx="4572000" cy="2314346"/>
          </a:xfrm>
          <a:prstGeom prst="rect">
            <a:avLst/>
          </a:prstGeom>
          <a:solidFill>
            <a:srgbClr val="ECDFC5"/>
          </a:solidFill>
          <a:ln/>
        </p:spPr>
      </p:sp>
      <p:sp>
        <p:nvSpPr>
          <p:cNvPr id="5" name="Shape 2"/>
          <p:cNvSpPr/>
          <p:nvPr/>
        </p:nvSpPr>
        <p:spPr>
          <a:xfrm>
            <a:off x="9334195" y="5391302"/>
            <a:ext cx="4572000" cy="28346"/>
          </a:xfrm>
          <a:prstGeom prst="rect">
            <a:avLst/>
          </a:prstGeom>
          <a:solidFill>
            <a:srgbClr val="963A26"/>
          </a:solidFill>
          <a:ln w="12700">
            <a:solidFill>
              <a:srgbClr val="963A26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7905902"/>
            <a:ext cx="12763195" cy="1218895"/>
          </a:xfrm>
          <a:prstGeom prst="rect">
            <a:avLst/>
          </a:prstGeom>
          <a:solidFill>
            <a:srgbClr val="1A1D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1c078f32b20383991f93fe7afcf5939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402" y="1028700"/>
            <a:ext cx="3143707" cy="20958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761695"/>
            <a:ext cx="2857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150" kern="0" dirty="0" altLang="en-US">
                <a:solidFill>
                  <a:srgbClr val="7A7368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15 / 15</a:t>
            </a:r>
            <a:endParaRPr lang="ko-KR" sz="1350" dirty="0" altLang="en-US"/>
          </a:p>
        </p:txBody>
      </p:sp>
      <p:sp>
        <p:nvSpPr>
          <p:cNvPr id="9" name="Text 5"/>
          <p:cNvSpPr txBox="1"/>
          <p:nvPr/>
        </p:nvSpPr>
        <p:spPr>
          <a:xfrm>
            <a:off x="1143000" y="1238098"/>
            <a:ext cx="10478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에필로그 · 다음 걸음</a:t>
            </a:r>
            <a:endParaRPr lang="ko-KR" sz="1350" dirty="0" altLang="en-US"/>
          </a:p>
        </p:txBody>
      </p:sp>
      <p:sp>
        <p:nvSpPr>
          <p:cNvPr id="10" name="Text 6"/>
          <p:cNvSpPr txBox="1"/>
          <p:nvPr/>
        </p:nvSpPr>
        <p:spPr>
          <a:xfrm>
            <a:off x="1143000" y="1580998"/>
            <a:ext cx="123828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4800" b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책이 아직 확인하지 않은 것들</a:t>
            </a:r>
            <a:endParaRPr lang="ko-KR" sz="4800" dirty="0" altLang="en-US"/>
          </a:p>
        </p:txBody>
      </p:sp>
      <p:sp>
        <p:nvSpPr>
          <p:cNvPr id="11" name="Text 7"/>
          <p:cNvSpPr txBox="1"/>
          <p:nvPr/>
        </p:nvSpPr>
        <p:spPr>
          <a:xfrm>
            <a:off x="1143000" y="2819095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아직 하지 않은 검증 · UNVERIFIED</a:t>
            </a:r>
            <a:endParaRPr lang="ko-KR" sz="1350" dirty="0" altLang="en-US"/>
          </a:p>
        </p:txBody>
      </p:sp>
      <p:sp>
        <p:nvSpPr>
          <p:cNvPr id="12" name="Text 8"/>
          <p:cNvSpPr txBox="1"/>
          <p:nvPr/>
        </p:nvSpPr>
        <p:spPr>
          <a:xfrm>
            <a:off x="1104900" y="3164738"/>
            <a:ext cx="784890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독자를 직접 잰 실험이 없다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endParaRPr lang="ko-KR" sz="1650" dirty="0" altLang="en-US"/>
          </a:p>
          <a:p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근거가 얇다 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350" i="1" dirty="0" altLang="en-US">
                <a:solidFill>
                  <a:srgbClr val="963A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가설로 남았다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endParaRPr lang="ko-KR" sz="1650" dirty="0" altLang="en-US"/>
          </a:p>
          <a:p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편집국의 효과를 잰 숫자가 없다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endParaRPr lang="ko-KR" sz="1650" dirty="0" altLang="en-US"/>
          </a:p>
          <a:p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필진이 독자와 관계를 맺는지 모른다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endParaRPr lang="ko-KR" sz="1650" dirty="0" altLang="en-US"/>
          </a:p>
          <a:p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marL="266700" indent="-266700">
              <a:lnSpc>
                <a:spcPts val="3150"/>
              </a:lnSpc>
              <a:buSzPct val="100000"/>
              <a:buChar char="•"/>
            </a:pPr>
            <a:r>
              <a:rPr lang="ko-KR" sz="165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원고 전문의 저자 검토가 남았다</a:t>
            </a:r>
            <a:endParaRPr lang="ko-KR" sz="1650" dirty="0" altLang="en-US"/>
          </a:p>
        </p:txBody>
      </p:sp>
      <p:sp>
        <p:nvSpPr>
          <p:cNvPr id="13" name="Text 9"/>
          <p:cNvSpPr txBox="1"/>
          <p:nvPr/>
        </p:nvSpPr>
        <p:spPr>
          <a:xfrm>
            <a:off x="9334195" y="2819095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두 가지만 권한다 · TWO NEXT STEPS</a:t>
            </a:r>
            <a:endParaRPr lang="ko-KR" sz="1350" dirty="0" altLang="en-US"/>
          </a:p>
        </p:txBody>
      </p:sp>
      <p:sp>
        <p:nvSpPr>
          <p:cNvPr id="14" name="Text 10"/>
          <p:cNvSpPr txBox="1"/>
          <p:nvPr/>
        </p:nvSpPr>
        <p:spPr>
          <a:xfrm>
            <a:off x="9639605" y="3504895"/>
            <a:ext cx="4191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01 · 이번 달</a:t>
            </a:r>
            <a:endParaRPr lang="ko-KR" sz="1350" dirty="0" altLang="en-US"/>
          </a:p>
        </p:txBody>
      </p:sp>
      <p:sp>
        <p:nvSpPr>
          <p:cNvPr id="15" name="Text 11"/>
          <p:cNvSpPr txBox="1"/>
          <p:nvPr/>
        </p:nvSpPr>
        <p:spPr>
          <a:xfrm>
            <a:off x="9639605" y="3810305"/>
            <a:ext cx="4191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850" b="1" spc="-75" kern="0" dirty="0" altLang="en-US">
                <a:solidFill>
                  <a:srgbClr val="F4EE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바꾸자.</a:t>
            </a:r>
            <a:endParaRPr lang="ko-KR" sz="2850" dirty="0" altLang="en-US"/>
          </a:p>
        </p:txBody>
      </p:sp>
      <p:sp>
        <p:nvSpPr>
          <p:cNvPr id="16" name="Text 12"/>
          <p:cNvSpPr txBox="1"/>
          <p:nvPr/>
        </p:nvSpPr>
        <p:spPr>
          <a:xfrm>
            <a:off x="9639605" y="4408322"/>
            <a:ext cx="419161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점검표의 한 줄 — 또는</a:t>
            </a:r>
            <a:pPr algn="l" indent="0" marL="0">
              <a:lnSpc>
                <a:spcPts val="210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100"/>
              </a:lnSpc>
              <a:buNone/>
            </a:pPr>
            <a:r>
              <a:rPr lang="ko-KR" sz="1350" dirty="0" altLang="en-US">
                <a:solidFill>
                  <a:srgbClr val="C7BB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카드의 한 장</a:t>
            </a:r>
            <a:endParaRPr lang="ko-KR" sz="1350" dirty="0" altLang="en-US"/>
          </a:p>
        </p:txBody>
      </p:sp>
      <p:sp>
        <p:nvSpPr>
          <p:cNvPr id="17" name="Text 13"/>
          <p:cNvSpPr txBox="1"/>
          <p:nvPr/>
        </p:nvSpPr>
        <p:spPr>
          <a:xfrm>
            <a:off x="9639605" y="5658307"/>
            <a:ext cx="4191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963A26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02 · 1년 뒤</a:t>
            </a:r>
            <a:endParaRPr lang="ko-KR" sz="1350" dirty="0" altLang="en-US"/>
          </a:p>
        </p:txBody>
      </p:sp>
      <p:sp>
        <p:nvSpPr>
          <p:cNvPr id="18" name="Text 14"/>
          <p:cNvSpPr txBox="1"/>
          <p:nvPr/>
        </p:nvSpPr>
        <p:spPr>
          <a:xfrm>
            <a:off x="9639605" y="5962802"/>
            <a:ext cx="4191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850" b="1" i="1" spc="-75" kern="0" dirty="0" altLang="en-US">
                <a:solidFill>
                  <a:srgbClr val="1A1D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 10월.</a:t>
            </a:r>
            <a:endParaRPr lang="ko-KR" sz="2850" dirty="0" altLang="en-US"/>
          </a:p>
        </p:txBody>
      </p:sp>
      <p:sp>
        <p:nvSpPr>
          <p:cNvPr id="19" name="Text 15"/>
          <p:cNvSpPr txBox="1"/>
          <p:nvPr/>
        </p:nvSpPr>
        <p:spPr>
          <a:xfrm>
            <a:off x="9639605" y="6532474"/>
            <a:ext cx="4191610" cy="8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펴자 — 쌓인 기록으로</a:t>
            </a:r>
            <a:pPr algn="l" indent="0" marL="0">
              <a:lnSpc>
                <a:spcPts val="225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2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받아들일지, 좁힐지,</a:t>
            </a:r>
            <a:pPr algn="l" indent="0" marL="0">
              <a:lnSpc>
                <a:spcPts val="2250"/>
              </a:lnSpc>
              <a:buNone/>
            </a:pPr>
            <a:endParaRPr lang="ko-KR" sz="1350" dirty="0" altLang="en-US"/>
          </a:p>
          <a:p>
            <a:pPr algn="l" indent="0" marL="0">
              <a:lnSpc>
                <a:spcPts val="2250"/>
              </a:lnSpc>
              <a:buNone/>
            </a:pPr>
            <a:r>
              <a:rPr lang="ko-KR" sz="1350" dirty="0" altLang="en-US">
                <a:solidFill>
                  <a:srgbClr val="3D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보류할지, 버릴지.</a:t>
            </a:r>
            <a:endParaRPr lang="ko-KR" sz="1350" dirty="0" altLang="en-US"/>
          </a:p>
        </p:txBody>
      </p:sp>
      <p:sp>
        <p:nvSpPr>
          <p:cNvPr id="20" name="Text 16"/>
          <p:cNvSpPr txBox="1"/>
          <p:nvPr/>
        </p:nvSpPr>
        <p:spPr>
          <a:xfrm>
            <a:off x="1524305" y="8115300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i="1" spc="225" kern="0" dirty="0" altLang="en-US">
                <a:solidFill>
                  <a:srgbClr val="C97C3D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전체 본문</a:t>
            </a:r>
            <a:endParaRPr lang="ko-KR" sz="1350" dirty="0" altLang="en-US"/>
          </a:p>
        </p:txBody>
      </p:sp>
      <p:sp>
        <p:nvSpPr>
          <p:cNvPr id="21" name="Text 17"/>
          <p:cNvSpPr txBox="1"/>
          <p:nvPr/>
        </p:nvSpPr>
        <p:spPr>
          <a:xfrm>
            <a:off x="1524305" y="8401507"/>
            <a:ext cx="12192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2400" dirty="0" altLang="en-US">
                <a:solidFill>
                  <a:srgbClr val="F4EEE0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https://ksangki.github.io/agent-newsroom/</a:t>
            </a:r>
            <a:endParaRPr lang="ko-KR" sz="2400" dirty="0" altLang="en-US"/>
          </a:p>
        </p:txBody>
      </p:sp>
      <p:sp>
        <p:nvSpPr>
          <p:cNvPr id="22" name="Text 18"/>
          <p:cNvSpPr txBox="1"/>
          <p:nvPr/>
        </p:nvSpPr>
        <p:spPr>
          <a:xfrm>
            <a:off x="1143000" y="9372600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1350" spc="38" kern="0" dirty="0" altLang="en-US">
                <a:solidFill>
                  <a:srgbClr val="7A7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book-writer 하네스 v2.1.0 · 저자 전문 검토 전 초안 · v1.2.2 · 2026-10-23 · CC BY-NC-SA 4.0 · 김상기</a:t>
            </a:r>
            <a:endParaRPr lang="ko-KR" sz="1350" dirty="0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2026-10-24T01:25:30Z</dcterms:created>
  <dcterms:modified xsi:type="dcterms:W3CDTF">2026-10-24T01:25:30Z</dcterms:modified>
</cp:coreProperties>
</file>